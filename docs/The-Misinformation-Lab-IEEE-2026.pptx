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here. The point of this slide is that the problem is not ignorance, it is speed and reflex. Every media-literacy tool teaches recognition; recognition is already there and it still fails. That is what justifies role reversal instead of another explainer. Verify both cited figures against your sources before submitting.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The one thing to say out loud: the three phases deliberately look like three different products. That is a teaching decision, not a styling accident — the feed must be boring enough to fool them, and the campaign desk must feel legitimate, because that is what the real tools feel like.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AI-integration slide and also half the ethics slide. Emphasise that the refusal is demonstrated live in the video, not claimed here. The determinism is a feature for a classroom: the same prompt teaches the same lesson to every student, and nothing can drift into something unsafe.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decides the competition. Every placing poster in 2025 led with a measured number.</a:t>
            </a:r>
          </a:p>
          <a:p/>
          <a:p>
            <a:r>
              <a:t>The three dashes and the two decision-time dashes must be replaced with real figures from the tester run, and the orange bar deleted. Do not submit this slide with placeholders in it.</a:t>
            </a:r>
          </a:p>
          <a:p/>
          <a:p>
            <a:r>
              <a:t>The method box is doing real work: a fixed baseline and a tactics-matched second round is what makes the gain a learning measurement rather than a memory test. Say that out loud in the video.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ethics, be precise, because a judge may press on it. The app does let a student attach their own photo to a false headline — that is deliberate, because pairing a real image with a false claim is the most common real tactic there is, and doing it yourself teaches it faster than being told. What constrains it: the scenario is wholly fictional, the AI refuses every real name, and nothing ever leaves the student's own browser.</a:t>
            </a:r>
          </a:p>
          <a:p/>
          <a:p>
            <a:r>
              <a:t>Do not claim the app 'cannot produce a fake' — it can, and that is the point of a sandbox. Claim instead that it cannot be aimed at anything real.</a:t>
            </a:r>
          </a:p>
          <a:p/>
          <a:p>
            <a:r>
              <a:t>Land the last line: a teacher opens a URL and a class runs it in ten minutes.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B0F"/>
        </a:solidFill>
        <a:effectLst/>
      </p:bgPr>
    </p:bg>
    <p:spTree>
      <p:nvGrpSpPr>
        <p:cNvPr id="1" name=""/>
        <p:cNvGrpSpPr/>
        <p:nvPr/>
      </p:nvGrpSpPr>
      <p:grpSpPr/>
      <p:sp>
        <p:nvSpPr>
          <p:cNvPr id="2" name="TextBox 1"/>
          <p:cNvSpPr txBox="1"/>
          <p:nvPr/>
        </p:nvSpPr>
        <p:spPr>
          <a:xfrm>
            <a:off x="822960" y="566928"/>
            <a:ext cx="10515600" cy="274320"/>
          </a:xfrm>
          <a:prstGeom prst="rect">
            <a:avLst/>
          </a:prstGeom>
          <a:noFill/>
        </p:spPr>
        <p:txBody>
          <a:bodyPr wrap="square" lIns="0" rIns="0" tIns="0" bIns="0" anchor="t">
            <a:spAutoFit/>
          </a:bodyPr>
          <a:lstStyle/>
          <a:p>
            <a:pPr algn="l">
              <a:spcBef>
                <a:spcPts val="0"/>
              </a:spcBef>
              <a:spcAft>
                <a:spcPts val="0"/>
              </a:spcAft>
            </a:pPr>
            <a:r>
              <a:rPr sz="1000" b="1" i="0" spc="220">
                <a:solidFill>
                  <a:srgbClr val="8B8B96"/>
                </a:solidFill>
                <a:latin typeface="Arial"/>
              </a:rPr>
              <a:t>THEME 3  ·  ADVANCED LEARNING IN EDUCATIONAL OR CLASSROOM ENVIRONMENTS</a:t>
            </a:r>
          </a:p>
        </p:txBody>
      </p:sp>
      <p:sp>
        <p:nvSpPr>
          <p:cNvPr id="3" name="TextBox 2"/>
          <p:cNvSpPr txBox="1"/>
          <p:nvPr/>
        </p:nvSpPr>
        <p:spPr>
          <a:xfrm>
            <a:off x="822960" y="1143000"/>
            <a:ext cx="7863840" cy="2377440"/>
          </a:xfrm>
          <a:prstGeom prst="rect">
            <a:avLst/>
          </a:prstGeom>
          <a:noFill/>
        </p:spPr>
        <p:txBody>
          <a:bodyPr wrap="square" lIns="0" rIns="0" tIns="0" bIns="0" anchor="t">
            <a:spAutoFit/>
          </a:bodyPr>
          <a:lstStyle/>
          <a:p>
            <a:pPr algn="l">
              <a:lnSpc>
                <a:spcPct val="108000"/>
              </a:lnSpc>
              <a:spcBef>
                <a:spcPts val="0"/>
              </a:spcBef>
              <a:spcAft>
                <a:spcPts val="0"/>
              </a:spcAft>
            </a:pPr>
            <a:r>
              <a:rPr sz="4000" b="0" i="0">
                <a:solidFill>
                  <a:srgbClr val="E9E9EE"/>
                </a:solidFill>
                <a:latin typeface="Georgia"/>
              </a:rPr>
              <a:t>Teenagers already know</a:t>
            </a:r>
          </a:p>
          <a:p>
            <a:pPr>
              <a:lnSpc>
                <a:spcPct val="108000"/>
              </a:lnSpc>
              <a:spcBef>
                <a:spcPts val="0"/>
              </a:spcBef>
              <a:spcAft>
                <a:spcPts val="0"/>
              </a:spcAft>
            </a:pPr>
            <a:r>
              <a:rPr sz="4000" b="0" i="0">
                <a:solidFill>
                  <a:srgbClr val="E9E9EE"/>
                </a:solidFill>
                <a:latin typeface="Georgia"/>
              </a:rPr>
              <a:t>misinformation exists.</a:t>
            </a:r>
          </a:p>
          <a:p>
            <a:pPr>
              <a:lnSpc>
                <a:spcPct val="108000"/>
              </a:lnSpc>
              <a:spcBef>
                <a:spcPts val="0"/>
              </a:spcBef>
              <a:spcAft>
                <a:spcPts val="0"/>
              </a:spcAft>
            </a:pPr>
            <a:r>
              <a:rPr sz="4000" b="0" i="1">
                <a:solidFill>
                  <a:srgbClr val="C9C2E8"/>
                </a:solidFill>
                <a:latin typeface="Georgia"/>
              </a:rPr>
              <a:t>It fools them anyway.</a:t>
            </a:r>
          </a:p>
        </p:txBody>
      </p:sp>
      <p:sp>
        <p:nvSpPr>
          <p:cNvPr id="4" name="TextBox 3"/>
          <p:cNvSpPr txBox="1"/>
          <p:nvPr/>
        </p:nvSpPr>
        <p:spPr>
          <a:xfrm>
            <a:off x="822960" y="3794760"/>
            <a:ext cx="5943600" cy="1371600"/>
          </a:xfrm>
          <a:prstGeom prst="rect">
            <a:avLst/>
          </a:prstGeom>
          <a:noFill/>
        </p:spPr>
        <p:txBody>
          <a:bodyPr wrap="square" lIns="0" rIns="0" tIns="0" bIns="0" anchor="t">
            <a:spAutoFit/>
          </a:bodyPr>
          <a:lstStyle/>
          <a:p>
            <a:pPr algn="l">
              <a:lnSpc>
                <a:spcPct val="155000"/>
              </a:lnSpc>
              <a:spcBef>
                <a:spcPts val="0"/>
              </a:spcBef>
              <a:spcAft>
                <a:spcPts val="0"/>
              </a:spcAft>
            </a:pPr>
            <a:r>
              <a:rPr sz="1400" b="0" i="0">
                <a:solidFill>
                  <a:srgbClr val="8B8B96"/>
                </a:solidFill>
                <a:latin typeface="Arial"/>
              </a:rPr>
              <a:t>Media literacy is taught as knowledge — spot the red flags, check the source. But recognition was never the failure point. Speed is. A student who can define misinformation in a classroom still reshares it in four seconds on a phone.</a:t>
            </a:r>
          </a:p>
        </p:txBody>
      </p:sp>
      <p:sp>
        <p:nvSpPr>
          <p:cNvPr id="5" name="Rectangle 4"/>
          <p:cNvSpPr/>
          <p:nvPr/>
        </p:nvSpPr>
        <p:spPr>
          <a:xfrm>
            <a:off x="7360920" y="1234440"/>
            <a:ext cx="1874519" cy="1737360"/>
          </a:xfrm>
          <a:prstGeom prst="rect">
            <a:avLst/>
          </a:prstGeom>
          <a:solidFill>
            <a:srgbClr val="16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16952" y="1463040"/>
            <a:ext cx="1463040" cy="640080"/>
          </a:xfrm>
          <a:prstGeom prst="rect">
            <a:avLst/>
          </a:prstGeom>
          <a:noFill/>
        </p:spPr>
        <p:txBody>
          <a:bodyPr wrap="square" lIns="0" rIns="0" tIns="0" bIns="0" anchor="t">
            <a:spAutoFit/>
          </a:bodyPr>
          <a:lstStyle/>
          <a:p>
            <a:pPr algn="l">
              <a:spcBef>
                <a:spcPts val="0"/>
              </a:spcBef>
              <a:spcAft>
                <a:spcPts val="0"/>
              </a:spcAft>
            </a:pPr>
            <a:r>
              <a:rPr sz="3400" b="0" i="0">
                <a:solidFill>
                  <a:srgbClr val="E9E9EE"/>
                </a:solidFill>
                <a:latin typeface="Georgia"/>
              </a:rPr>
              <a:t>11%</a:t>
            </a:r>
          </a:p>
        </p:txBody>
      </p:sp>
      <p:sp>
        <p:nvSpPr>
          <p:cNvPr id="7" name="TextBox 6"/>
          <p:cNvSpPr txBox="1"/>
          <p:nvPr/>
        </p:nvSpPr>
        <p:spPr>
          <a:xfrm>
            <a:off x="7616952" y="2121408"/>
            <a:ext cx="1417320" cy="914400"/>
          </a:xfrm>
          <a:prstGeom prst="rect">
            <a:avLst/>
          </a:prstGeom>
          <a:noFill/>
        </p:spPr>
        <p:txBody>
          <a:bodyPr wrap="square" lIns="0" rIns="0" tIns="0" bIns="0" anchor="t">
            <a:spAutoFit/>
          </a:bodyPr>
          <a:lstStyle/>
          <a:p>
            <a:pPr algn="l">
              <a:lnSpc>
                <a:spcPct val="135000"/>
              </a:lnSpc>
              <a:spcBef>
                <a:spcPts val="0"/>
              </a:spcBef>
              <a:spcAft>
                <a:spcPts val="0"/>
              </a:spcAft>
            </a:pPr>
            <a:r>
              <a:rPr sz="900" b="0" i="0">
                <a:solidFill>
                  <a:srgbClr val="8B8B96"/>
                </a:solidFill>
                <a:latin typeface="Arial"/>
              </a:rPr>
              <a:t>of 11–17s can reliably tell a real news story from a fake one</a:t>
            </a:r>
          </a:p>
        </p:txBody>
      </p:sp>
      <p:sp>
        <p:nvSpPr>
          <p:cNvPr id="8" name="Rectangle 7"/>
          <p:cNvSpPr/>
          <p:nvPr/>
        </p:nvSpPr>
        <p:spPr>
          <a:xfrm>
            <a:off x="9509760" y="1234440"/>
            <a:ext cx="1874519" cy="1737360"/>
          </a:xfrm>
          <a:prstGeom prst="rect">
            <a:avLst/>
          </a:prstGeom>
          <a:solidFill>
            <a:srgbClr val="16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65792" y="1463040"/>
            <a:ext cx="1463040" cy="640080"/>
          </a:xfrm>
          <a:prstGeom prst="rect">
            <a:avLst/>
          </a:prstGeom>
          <a:noFill/>
        </p:spPr>
        <p:txBody>
          <a:bodyPr wrap="square" lIns="0" rIns="0" tIns="0" bIns="0" anchor="t">
            <a:spAutoFit/>
          </a:bodyPr>
          <a:lstStyle/>
          <a:p>
            <a:pPr algn="l">
              <a:spcBef>
                <a:spcPts val="0"/>
              </a:spcBef>
              <a:spcAft>
                <a:spcPts val="0"/>
              </a:spcAft>
            </a:pPr>
            <a:r>
              <a:rPr sz="3400" b="0" i="0">
                <a:solidFill>
                  <a:srgbClr val="E9E9EE"/>
                </a:solidFill>
                <a:latin typeface="Georgia"/>
              </a:rPr>
              <a:t>#1</a:t>
            </a:r>
          </a:p>
        </p:txBody>
      </p:sp>
      <p:sp>
        <p:nvSpPr>
          <p:cNvPr id="10" name="TextBox 9"/>
          <p:cNvSpPr txBox="1"/>
          <p:nvPr/>
        </p:nvSpPr>
        <p:spPr>
          <a:xfrm>
            <a:off x="9765792" y="2121408"/>
            <a:ext cx="1417320" cy="914400"/>
          </a:xfrm>
          <a:prstGeom prst="rect">
            <a:avLst/>
          </a:prstGeom>
          <a:noFill/>
        </p:spPr>
        <p:txBody>
          <a:bodyPr wrap="square" lIns="0" rIns="0" tIns="0" bIns="0" anchor="t">
            <a:spAutoFit/>
          </a:bodyPr>
          <a:lstStyle/>
          <a:p>
            <a:pPr algn="l">
              <a:lnSpc>
                <a:spcPct val="135000"/>
              </a:lnSpc>
              <a:spcBef>
                <a:spcPts val="0"/>
              </a:spcBef>
              <a:spcAft>
                <a:spcPts val="0"/>
              </a:spcAft>
            </a:pPr>
            <a:r>
              <a:rPr sz="900" b="0" i="0">
                <a:solidFill>
                  <a:srgbClr val="8B8B96"/>
                </a:solidFill>
                <a:latin typeface="Arial"/>
              </a:rPr>
              <a:t>short-term global risk, ahead of extreme weather and conflict</a:t>
            </a:r>
          </a:p>
        </p:txBody>
      </p:sp>
      <p:sp>
        <p:nvSpPr>
          <p:cNvPr id="11" name="TextBox 10"/>
          <p:cNvSpPr txBox="1"/>
          <p:nvPr/>
        </p:nvSpPr>
        <p:spPr>
          <a:xfrm>
            <a:off x="7360920" y="3154680"/>
            <a:ext cx="4023360" cy="365760"/>
          </a:xfrm>
          <a:prstGeom prst="rect">
            <a:avLst/>
          </a:prstGeom>
          <a:noFill/>
        </p:spPr>
        <p:txBody>
          <a:bodyPr wrap="square" lIns="0" rIns="0" tIns="0" bIns="0" anchor="t">
            <a:spAutoFit/>
          </a:bodyPr>
          <a:lstStyle/>
          <a:p>
            <a:pPr algn="l">
              <a:spcBef>
                <a:spcPts val="0"/>
              </a:spcBef>
              <a:spcAft>
                <a:spcPts val="0"/>
              </a:spcAft>
            </a:pPr>
            <a:r>
              <a:rPr sz="800" b="0" i="0">
                <a:solidFill>
                  <a:srgbClr val="5A5A64"/>
                </a:solidFill>
                <a:latin typeface="Arial"/>
              </a:rPr>
              <a:t>Ofcom / National Literacy Trust  ·  WEF Global Risks Report</a:t>
            </a:r>
          </a:p>
        </p:txBody>
      </p:sp>
      <p:sp>
        <p:nvSpPr>
          <p:cNvPr id="12" name="Rectangle 11"/>
          <p:cNvSpPr/>
          <p:nvPr/>
        </p:nvSpPr>
        <p:spPr>
          <a:xfrm>
            <a:off x="7360920" y="3977639"/>
            <a:ext cx="4023360" cy="9525"/>
          </a:xfrm>
          <a:prstGeom prst="rect">
            <a:avLst/>
          </a:prstGeom>
          <a:solidFill>
            <a:srgbClr val="2A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60920" y="4206240"/>
            <a:ext cx="4023360" cy="1463040"/>
          </a:xfrm>
          <a:prstGeom prst="rect">
            <a:avLst/>
          </a:prstGeom>
          <a:noFill/>
        </p:spPr>
        <p:txBody>
          <a:bodyPr wrap="square" lIns="0" rIns="0" tIns="0" bIns="0" anchor="t">
            <a:spAutoFit/>
          </a:bodyPr>
          <a:lstStyle/>
          <a:p>
            <a:pPr algn="l">
              <a:lnSpc>
                <a:spcPct val="130000"/>
              </a:lnSpc>
              <a:spcBef>
                <a:spcPts val="0"/>
              </a:spcBef>
              <a:spcAft>
                <a:spcPts val="0"/>
              </a:spcAft>
            </a:pPr>
            <a:r>
              <a:rPr sz="1500" b="0" i="0">
                <a:solidFill>
                  <a:srgbClr val="E9E9EE"/>
                </a:solidFill>
                <a:latin typeface="Georgia"/>
              </a:rPr>
              <a:t>So we stopped teaching students about manipulation</a:t>
            </a:r>
          </a:p>
          <a:p>
            <a:pPr>
              <a:lnSpc>
                <a:spcPct val="130000"/>
              </a:lnSpc>
              <a:spcBef>
                <a:spcPts val="0"/>
              </a:spcBef>
              <a:spcAft>
                <a:spcPts val="0"/>
              </a:spcAft>
            </a:pPr>
            <a:r>
              <a:rPr sz="1500" b="0" i="1">
                <a:solidFill>
                  <a:srgbClr val="C9C2E8"/>
                </a:solidFill>
                <a:latin typeface="Georgia"/>
              </a:rPr>
              <a:t>and started making them perform it.</a:t>
            </a:r>
          </a:p>
        </p:txBody>
      </p:sp>
      <p:sp>
        <p:nvSpPr>
          <p:cNvPr id="14" name="TextBox 13"/>
          <p:cNvSpPr txBox="1"/>
          <p:nvPr/>
        </p:nvSpPr>
        <p:spPr>
          <a:xfrm>
            <a:off x="822960" y="6144768"/>
            <a:ext cx="10515600" cy="320040"/>
          </a:xfrm>
          <a:prstGeom prst="rect">
            <a:avLst/>
          </a:prstGeom>
          <a:noFill/>
        </p:spPr>
        <p:txBody>
          <a:bodyPr wrap="square" lIns="0" rIns="0" tIns="0" bIns="0" anchor="t">
            <a:spAutoFit/>
          </a:bodyPr>
          <a:lstStyle/>
          <a:p>
            <a:pPr algn="l">
              <a:spcBef>
                <a:spcPts val="0"/>
              </a:spcBef>
              <a:spcAft>
                <a:spcPts val="0"/>
              </a:spcAft>
            </a:pPr>
            <a:r>
              <a:rPr sz="900" b="0" i="0" spc="140">
                <a:solidFill>
                  <a:srgbClr val="5A5A64"/>
                </a:solidFill>
                <a:latin typeface="Arial"/>
              </a:rPr>
              <a:t>THE MISINFORMATION LAB  ·  IEEE METAVERSE GRAND CHALLENGE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15600" cy="274320"/>
          </a:xfrm>
          <a:prstGeom prst="rect">
            <a:avLst/>
          </a:prstGeom>
          <a:noFill/>
        </p:spPr>
        <p:txBody>
          <a:bodyPr wrap="square" lIns="0" rIns="0" tIns="0" bIns="0" anchor="t">
            <a:spAutoFit/>
          </a:bodyPr>
          <a:lstStyle/>
          <a:p>
            <a:pPr algn="l">
              <a:spcBef>
                <a:spcPts val="0"/>
              </a:spcBef>
              <a:spcAft>
                <a:spcPts val="0"/>
              </a:spcAft>
            </a:pPr>
            <a:r>
              <a:rPr sz="1000" b="1" i="0" spc="220">
                <a:solidFill>
                  <a:srgbClr val="7A7A7A"/>
                </a:solidFill>
                <a:latin typeface="Arial"/>
              </a:rPr>
              <a:t>IMPLEMENTATION DESIGN</a:t>
            </a:r>
          </a:p>
        </p:txBody>
      </p:sp>
      <p:sp>
        <p:nvSpPr>
          <p:cNvPr id="3" name="TextBox 2"/>
          <p:cNvSpPr txBox="1"/>
          <p:nvPr/>
        </p:nvSpPr>
        <p:spPr>
          <a:xfrm>
            <a:off x="822960" y="960120"/>
            <a:ext cx="8686800" cy="640080"/>
          </a:xfrm>
          <a:prstGeom prst="rect">
            <a:avLst/>
          </a:prstGeom>
          <a:noFill/>
        </p:spPr>
        <p:txBody>
          <a:bodyPr wrap="square" lIns="0" rIns="0" tIns="0" bIns="0" anchor="t">
            <a:spAutoFit/>
          </a:bodyPr>
          <a:lstStyle/>
          <a:p>
            <a:pPr algn="l">
              <a:spcBef>
                <a:spcPts val="0"/>
              </a:spcBef>
              <a:spcAft>
                <a:spcPts val="0"/>
              </a:spcAft>
            </a:pPr>
            <a:r>
              <a:rPr sz="3000" b="0" i="0">
                <a:solidFill>
                  <a:srgbClr val="111111"/>
                </a:solidFill>
                <a:latin typeface="Georgia"/>
              </a:rPr>
              <a:t>Three phases. Three different kinds of software.</a:t>
            </a:r>
          </a:p>
        </p:txBody>
      </p:sp>
      <p:sp>
        <p:nvSpPr>
          <p:cNvPr id="4" name="Rectangle 3"/>
          <p:cNvSpPr/>
          <p:nvPr/>
        </p:nvSpPr>
        <p:spPr>
          <a:xfrm>
            <a:off x="822960" y="1783080"/>
            <a:ext cx="3291840" cy="3977639"/>
          </a:xfrm>
          <a:prstGeom prst="rect">
            <a:avLst/>
          </a:prstGeom>
          <a:solidFill>
            <a:srgbClr val="FB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783080"/>
            <a:ext cx="3291840" cy="38100"/>
          </a:xfrm>
          <a:prstGeom prst="rect">
            <a:avLst/>
          </a:prstGeom>
          <a:solidFill>
            <a:srgbClr val="1D6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2084831"/>
            <a:ext cx="2743200" cy="320040"/>
          </a:xfrm>
          <a:prstGeom prst="rect">
            <a:avLst/>
          </a:prstGeom>
          <a:noFill/>
        </p:spPr>
        <p:txBody>
          <a:bodyPr wrap="square" lIns="0" rIns="0" tIns="0" bIns="0" anchor="t">
            <a:spAutoFit/>
          </a:bodyPr>
          <a:lstStyle/>
          <a:p>
            <a:pPr algn="l">
              <a:spcBef>
                <a:spcPts val="0"/>
              </a:spcBef>
              <a:spcAft>
                <a:spcPts val="0"/>
              </a:spcAft>
            </a:pPr>
            <a:r>
              <a:rPr sz="1000" b="1" i="0" spc="200">
                <a:solidFill>
                  <a:srgbClr val="1D6FF2"/>
                </a:solidFill>
                <a:latin typeface="Arial"/>
              </a:rPr>
              <a:t>01</a:t>
            </a:r>
          </a:p>
        </p:txBody>
      </p:sp>
      <p:sp>
        <p:nvSpPr>
          <p:cNvPr id="7" name="TextBox 6"/>
          <p:cNvSpPr txBox="1"/>
          <p:nvPr/>
        </p:nvSpPr>
        <p:spPr>
          <a:xfrm>
            <a:off x="1115568" y="2395728"/>
            <a:ext cx="2743200" cy="411480"/>
          </a:xfrm>
          <a:prstGeom prst="rect">
            <a:avLst/>
          </a:prstGeom>
          <a:noFill/>
        </p:spPr>
        <p:txBody>
          <a:bodyPr wrap="square" lIns="0" rIns="0" tIns="0" bIns="0" anchor="t">
            <a:spAutoFit/>
          </a:bodyPr>
          <a:lstStyle/>
          <a:p>
            <a:pPr algn="l">
              <a:spcBef>
                <a:spcPts val="0"/>
              </a:spcBef>
              <a:spcAft>
                <a:spcPts val="0"/>
              </a:spcAft>
            </a:pPr>
            <a:r>
              <a:rPr sz="2100" b="0" i="0">
                <a:solidFill>
                  <a:srgbClr val="16181C"/>
                </a:solidFill>
                <a:latin typeface="Georgia"/>
              </a:rPr>
              <a:t>Detect</a:t>
            </a:r>
          </a:p>
        </p:txBody>
      </p:sp>
      <p:sp>
        <p:nvSpPr>
          <p:cNvPr id="8" name="TextBox 7"/>
          <p:cNvSpPr txBox="1"/>
          <p:nvPr/>
        </p:nvSpPr>
        <p:spPr>
          <a:xfrm>
            <a:off x="1115568" y="2880360"/>
            <a:ext cx="2743200" cy="457200"/>
          </a:xfrm>
          <a:prstGeom prst="rect">
            <a:avLst/>
          </a:prstGeom>
          <a:noFill/>
        </p:spPr>
        <p:txBody>
          <a:bodyPr wrap="square" lIns="0" rIns="0" tIns="0" bIns="0" anchor="t">
            <a:spAutoFit/>
          </a:bodyPr>
          <a:lstStyle/>
          <a:p>
            <a:pPr algn="l">
              <a:lnSpc>
                <a:spcPct val="130000"/>
              </a:lnSpc>
              <a:spcBef>
                <a:spcPts val="0"/>
              </a:spcBef>
              <a:spcAft>
                <a:spcPts val="0"/>
              </a:spcAft>
            </a:pPr>
            <a:r>
              <a:rPr sz="1150" b="1" i="0">
                <a:solidFill>
                  <a:srgbClr val="16181C"/>
                </a:solidFill>
                <a:latin typeface="Arial"/>
              </a:rPr>
              <a:t>An ordinary social feed.</a:t>
            </a:r>
          </a:p>
        </p:txBody>
      </p:sp>
      <p:sp>
        <p:nvSpPr>
          <p:cNvPr id="9" name="TextBox 8"/>
          <p:cNvSpPr txBox="1"/>
          <p:nvPr/>
        </p:nvSpPr>
        <p:spPr>
          <a:xfrm>
            <a:off x="1115568" y="3456432"/>
            <a:ext cx="2743200" cy="2103120"/>
          </a:xfrm>
          <a:prstGeom prst="rect">
            <a:avLst/>
          </a:prstGeom>
          <a:noFill/>
        </p:spPr>
        <p:txBody>
          <a:bodyPr wrap="square" lIns="0" rIns="0" tIns="0" bIns="0" anchor="t">
            <a:spAutoFit/>
          </a:bodyPr>
          <a:lstStyle/>
          <a:p>
            <a:pPr algn="l">
              <a:lnSpc>
                <a:spcPct val="145000"/>
              </a:lnSpc>
              <a:spcBef>
                <a:spcPts val="0"/>
              </a:spcBef>
              <a:spcAft>
                <a:spcPts val="0"/>
              </a:spcAft>
            </a:pPr>
            <a:r>
              <a:rPr sz="1000" b="0" i="0">
                <a:solidFill>
                  <a:srgbClr val="65686D"/>
                </a:solidFill>
                <a:latin typeface="Arial"/>
              </a:rPr>
              <a:t>Five posts, three fabricated. Swipe, click, or arrow-key. Every decision is timed to the millisecond, and opening the verification tools costs visible time — the same trade a real reader makes.
This round is a fixed baseline: identical for every student, so one score is comparable to another.</a:t>
            </a:r>
          </a:p>
        </p:txBody>
      </p:sp>
      <p:sp>
        <p:nvSpPr>
          <p:cNvPr id="10" name="Rectangle 9"/>
          <p:cNvSpPr/>
          <p:nvPr/>
        </p:nvSpPr>
        <p:spPr>
          <a:xfrm>
            <a:off x="4434840" y="1783080"/>
            <a:ext cx="3291840" cy="3977639"/>
          </a:xfrm>
          <a:prstGeom prst="rect">
            <a:avLst/>
          </a:prstGeom>
          <a:solidFill>
            <a:srgbClr val="F1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34840" y="1783080"/>
            <a:ext cx="3291840" cy="38100"/>
          </a:xfrm>
          <a:prstGeom prst="rect">
            <a:avLst/>
          </a:prstGeom>
          <a:solidFill>
            <a:srgbClr val="4B3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27448" y="2084831"/>
            <a:ext cx="2743200" cy="320040"/>
          </a:xfrm>
          <a:prstGeom prst="rect">
            <a:avLst/>
          </a:prstGeom>
          <a:noFill/>
        </p:spPr>
        <p:txBody>
          <a:bodyPr wrap="square" lIns="0" rIns="0" tIns="0" bIns="0" anchor="t">
            <a:spAutoFit/>
          </a:bodyPr>
          <a:lstStyle/>
          <a:p>
            <a:pPr algn="l">
              <a:spcBef>
                <a:spcPts val="0"/>
              </a:spcBef>
              <a:spcAft>
                <a:spcPts val="0"/>
              </a:spcAft>
            </a:pPr>
            <a:r>
              <a:rPr sz="1000" b="1" i="0" spc="200">
                <a:solidFill>
                  <a:srgbClr val="4B32A8"/>
                </a:solidFill>
                <a:latin typeface="Arial"/>
              </a:rPr>
              <a:t>02</a:t>
            </a:r>
          </a:p>
        </p:txBody>
      </p:sp>
      <p:sp>
        <p:nvSpPr>
          <p:cNvPr id="13" name="TextBox 12"/>
          <p:cNvSpPr txBox="1"/>
          <p:nvPr/>
        </p:nvSpPr>
        <p:spPr>
          <a:xfrm>
            <a:off x="4727448" y="2395728"/>
            <a:ext cx="2743200" cy="411480"/>
          </a:xfrm>
          <a:prstGeom prst="rect">
            <a:avLst/>
          </a:prstGeom>
          <a:noFill/>
        </p:spPr>
        <p:txBody>
          <a:bodyPr wrap="square" lIns="0" rIns="0" tIns="0" bIns="0" anchor="t">
            <a:spAutoFit/>
          </a:bodyPr>
          <a:lstStyle/>
          <a:p>
            <a:pPr algn="l">
              <a:spcBef>
                <a:spcPts val="0"/>
              </a:spcBef>
              <a:spcAft>
                <a:spcPts val="0"/>
              </a:spcAft>
            </a:pPr>
            <a:r>
              <a:rPr sz="2100" b="0" i="0">
                <a:solidFill>
                  <a:srgbClr val="241A47"/>
                </a:solidFill>
                <a:latin typeface="Georgia"/>
              </a:rPr>
              <a:t>Campaign</a:t>
            </a:r>
          </a:p>
        </p:txBody>
      </p:sp>
      <p:sp>
        <p:nvSpPr>
          <p:cNvPr id="14" name="TextBox 13"/>
          <p:cNvSpPr txBox="1"/>
          <p:nvPr/>
        </p:nvSpPr>
        <p:spPr>
          <a:xfrm>
            <a:off x="4727448" y="2880360"/>
            <a:ext cx="2743200" cy="457200"/>
          </a:xfrm>
          <a:prstGeom prst="rect">
            <a:avLst/>
          </a:prstGeom>
          <a:noFill/>
        </p:spPr>
        <p:txBody>
          <a:bodyPr wrap="square" lIns="0" rIns="0" tIns="0" bIns="0" anchor="t">
            <a:spAutoFit/>
          </a:bodyPr>
          <a:lstStyle/>
          <a:p>
            <a:pPr algn="l">
              <a:lnSpc>
                <a:spcPct val="130000"/>
              </a:lnSpc>
              <a:spcBef>
                <a:spcPts val="0"/>
              </a:spcBef>
              <a:spcAft>
                <a:spcPts val="0"/>
              </a:spcAft>
            </a:pPr>
            <a:r>
              <a:rPr sz="1150" b="1" i="0">
                <a:solidFill>
                  <a:srgbClr val="241A47"/>
                </a:solidFill>
                <a:latin typeface="Arial"/>
              </a:rPr>
              <a:t>A cheerful advertising dashboard.</a:t>
            </a:r>
          </a:p>
        </p:txBody>
      </p:sp>
      <p:sp>
        <p:nvSpPr>
          <p:cNvPr id="15" name="TextBox 14"/>
          <p:cNvSpPr txBox="1"/>
          <p:nvPr/>
        </p:nvSpPr>
        <p:spPr>
          <a:xfrm>
            <a:off x="4727448" y="3456432"/>
            <a:ext cx="2743200" cy="2103120"/>
          </a:xfrm>
          <a:prstGeom prst="rect">
            <a:avLst/>
          </a:prstGeom>
          <a:noFill/>
        </p:spPr>
        <p:txBody>
          <a:bodyPr wrap="square" lIns="0" rIns="0" tIns="0" bIns="0" anchor="t">
            <a:spAutoFit/>
          </a:bodyPr>
          <a:lstStyle/>
          <a:p>
            <a:pPr algn="l">
              <a:lnSpc>
                <a:spcPct val="145000"/>
              </a:lnSpc>
              <a:spcBef>
                <a:spcPts val="0"/>
              </a:spcBef>
              <a:spcAft>
                <a:spcPts val="0"/>
              </a:spcAft>
            </a:pPr>
            <a:r>
              <a:rPr sz="1000" b="0" i="0">
                <a:solidFill>
                  <a:srgbClr val="6F6791"/>
                </a:solidFill>
                <a:latin typeface="Arial"/>
              </a:rPr>
              <a:t>Choose an audience and an emotional hook. An AI strategist drafts the headline. Drag credibility signals — a verified tick, a named source, engagement numbers — onto your own fake.
Then watch it spread, with the arithmetic shown in full: 2,400 followers × match% × credibility% × 8 reshares each.</a:t>
            </a:r>
          </a:p>
        </p:txBody>
      </p:sp>
      <p:sp>
        <p:nvSpPr>
          <p:cNvPr id="16" name="Rectangle 15"/>
          <p:cNvSpPr/>
          <p:nvPr/>
        </p:nvSpPr>
        <p:spPr>
          <a:xfrm>
            <a:off x="8046720" y="1783080"/>
            <a:ext cx="3291840" cy="3977639"/>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783080"/>
            <a:ext cx="3291840" cy="38100"/>
          </a:xfrm>
          <a:prstGeom prst="rect">
            <a:avLst/>
          </a:prstGeom>
          <a:solidFill>
            <a:srgbClr val="B45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9328" y="2084831"/>
            <a:ext cx="2743200" cy="320040"/>
          </a:xfrm>
          <a:prstGeom prst="rect">
            <a:avLst/>
          </a:prstGeom>
          <a:noFill/>
        </p:spPr>
        <p:txBody>
          <a:bodyPr wrap="square" lIns="0" rIns="0" tIns="0" bIns="0" anchor="t">
            <a:spAutoFit/>
          </a:bodyPr>
          <a:lstStyle/>
          <a:p>
            <a:pPr algn="l">
              <a:spcBef>
                <a:spcPts val="0"/>
              </a:spcBef>
              <a:spcAft>
                <a:spcPts val="0"/>
              </a:spcAft>
            </a:pPr>
            <a:r>
              <a:rPr sz="1000" b="1" i="0" spc="200">
                <a:solidFill>
                  <a:srgbClr val="B4522A"/>
                </a:solidFill>
                <a:latin typeface="Arial"/>
              </a:rPr>
              <a:t>03</a:t>
            </a:r>
          </a:p>
        </p:txBody>
      </p:sp>
      <p:sp>
        <p:nvSpPr>
          <p:cNvPr id="19" name="TextBox 18"/>
          <p:cNvSpPr txBox="1"/>
          <p:nvPr/>
        </p:nvSpPr>
        <p:spPr>
          <a:xfrm>
            <a:off x="8339328" y="2395728"/>
            <a:ext cx="2743200" cy="411480"/>
          </a:xfrm>
          <a:prstGeom prst="rect">
            <a:avLst/>
          </a:prstGeom>
          <a:noFill/>
        </p:spPr>
        <p:txBody>
          <a:bodyPr wrap="square" lIns="0" rIns="0" tIns="0" bIns="0" anchor="t">
            <a:spAutoFit/>
          </a:bodyPr>
          <a:lstStyle/>
          <a:p>
            <a:pPr algn="l">
              <a:spcBef>
                <a:spcPts val="0"/>
              </a:spcBef>
              <a:spcAft>
                <a:spcPts val="0"/>
              </a:spcAft>
            </a:pPr>
            <a:r>
              <a:rPr sz="2100" b="0" i="0">
                <a:solidFill>
                  <a:srgbClr val="111111"/>
                </a:solidFill>
                <a:latin typeface="Georgia"/>
              </a:rPr>
              <a:t>Reveal</a:t>
            </a:r>
          </a:p>
        </p:txBody>
      </p:sp>
      <p:sp>
        <p:nvSpPr>
          <p:cNvPr id="20" name="TextBox 19"/>
          <p:cNvSpPr txBox="1"/>
          <p:nvPr/>
        </p:nvSpPr>
        <p:spPr>
          <a:xfrm>
            <a:off x="8339328" y="2880360"/>
            <a:ext cx="2743200" cy="457200"/>
          </a:xfrm>
          <a:prstGeom prst="rect">
            <a:avLst/>
          </a:prstGeom>
          <a:noFill/>
        </p:spPr>
        <p:txBody>
          <a:bodyPr wrap="square" lIns="0" rIns="0" tIns="0" bIns="0" anchor="t">
            <a:spAutoFit/>
          </a:bodyPr>
          <a:lstStyle/>
          <a:p>
            <a:pPr algn="l">
              <a:lnSpc>
                <a:spcPct val="130000"/>
              </a:lnSpc>
              <a:spcBef>
                <a:spcPts val="0"/>
              </a:spcBef>
              <a:spcAft>
                <a:spcPts val="0"/>
              </a:spcAft>
            </a:pPr>
            <a:r>
              <a:rPr sz="1150" b="1" i="0">
                <a:solidFill>
                  <a:srgbClr val="111111"/>
                </a:solidFill>
                <a:latin typeface="Arial"/>
              </a:rPr>
              <a:t>A printed report. No interface.</a:t>
            </a:r>
          </a:p>
        </p:txBody>
      </p:sp>
      <p:sp>
        <p:nvSpPr>
          <p:cNvPr id="21" name="TextBox 20"/>
          <p:cNvSpPr txBox="1"/>
          <p:nvPr/>
        </p:nvSpPr>
        <p:spPr>
          <a:xfrm>
            <a:off x="8339328" y="3456432"/>
            <a:ext cx="2743200" cy="2103120"/>
          </a:xfrm>
          <a:prstGeom prst="rect">
            <a:avLst/>
          </a:prstGeom>
          <a:noFill/>
        </p:spPr>
        <p:txBody>
          <a:bodyPr wrap="square" lIns="0" rIns="0" tIns="0" bIns="0" anchor="t">
            <a:spAutoFit/>
          </a:bodyPr>
          <a:lstStyle/>
          <a:p>
            <a:pPr algn="l">
              <a:lnSpc>
                <a:spcPct val="145000"/>
              </a:lnSpc>
              <a:spcBef>
                <a:spcPts val="0"/>
              </a:spcBef>
              <a:spcAft>
                <a:spcPts val="0"/>
              </a:spcAft>
            </a:pPr>
            <a:r>
              <a:rPr sz="1000" b="0" i="0">
                <a:solidFill>
                  <a:srgbClr val="7A7A7A"/>
                </a:solidFill>
                <a:latin typeface="Arial"/>
              </a:rPr>
              <a:t>Seven sequenced beats. Your accuracy before and after. Your decision speed on the ones you got wrong. Every instruction you gave the AI, quoted back.
It ends by naming your specific vulnerability and one habit that counters it.</a:t>
            </a:r>
          </a:p>
        </p:txBody>
      </p:sp>
      <p:sp>
        <p:nvSpPr>
          <p:cNvPr id="22" name="TextBox 21"/>
          <p:cNvSpPr txBox="1"/>
          <p:nvPr/>
        </p:nvSpPr>
        <p:spPr>
          <a:xfrm>
            <a:off x="822960" y="5989320"/>
            <a:ext cx="10515600" cy="640080"/>
          </a:xfrm>
          <a:prstGeom prst="rect">
            <a:avLst/>
          </a:prstGeom>
          <a:noFill/>
        </p:spPr>
        <p:txBody>
          <a:bodyPr wrap="square" lIns="0" rIns="0" tIns="0" bIns="0" anchor="t">
            <a:spAutoFit/>
          </a:bodyPr>
          <a:lstStyle/>
          <a:p>
            <a:pPr algn="l">
              <a:lnSpc>
                <a:spcPct val="150000"/>
              </a:lnSpc>
              <a:spcBef>
                <a:spcPts val="0"/>
              </a:spcBef>
              <a:spcAft>
                <a:spcPts val="0"/>
              </a:spcAft>
            </a:pPr>
            <a:r>
              <a:rPr sz="1100" b="0" i="0">
                <a:solidFill>
                  <a:srgbClr val="7A7A7A"/>
                </a:solidFill>
                <a:latin typeface="Arial"/>
              </a:rPr>
              <a:t>The visual language changes because the lesson does. Phase 1 has to be dull enough to actually fool you. Phase 2 is deliberately friendly — real influence operations run on cheerful ad tools, not hacker terminals. Phase 3 removes the interface entirely, because it is a verdict rather than an app screen.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EFF8"/>
        </a:solidFill>
        <a:effectLst/>
      </p:bgPr>
    </p:bg>
    <p:spTree>
      <p:nvGrpSpPr>
        <p:cNvPr id="1" name=""/>
        <p:cNvGrpSpPr/>
        <p:nvPr/>
      </p:nvGrpSpPr>
      <p:grpSpPr/>
      <p:sp>
        <p:nvSpPr>
          <p:cNvPr id="2" name="TextBox 1"/>
          <p:cNvSpPr txBox="1"/>
          <p:nvPr/>
        </p:nvSpPr>
        <p:spPr>
          <a:xfrm>
            <a:off x="822960" y="566928"/>
            <a:ext cx="10515600" cy="274320"/>
          </a:xfrm>
          <a:prstGeom prst="rect">
            <a:avLst/>
          </a:prstGeom>
          <a:noFill/>
        </p:spPr>
        <p:txBody>
          <a:bodyPr wrap="square" lIns="0" rIns="0" tIns="0" bIns="0" anchor="t">
            <a:spAutoFit/>
          </a:bodyPr>
          <a:lstStyle/>
          <a:p>
            <a:pPr algn="l">
              <a:spcBef>
                <a:spcPts val="0"/>
              </a:spcBef>
              <a:spcAft>
                <a:spcPts val="0"/>
              </a:spcAft>
            </a:pPr>
            <a:r>
              <a:rPr sz="1000" b="1" i="0" spc="220">
                <a:solidFill>
                  <a:srgbClr val="6F6791"/>
                </a:solidFill>
                <a:latin typeface="Arial"/>
              </a:rPr>
              <a:t>THE AI LAYER  ·  A STRATEGIST THAT INCRIMINATES ITSELF</a:t>
            </a:r>
          </a:p>
        </p:txBody>
      </p:sp>
      <p:sp>
        <p:nvSpPr>
          <p:cNvPr id="3" name="TextBox 2"/>
          <p:cNvSpPr txBox="1"/>
          <p:nvPr/>
        </p:nvSpPr>
        <p:spPr>
          <a:xfrm>
            <a:off x="822960" y="960120"/>
            <a:ext cx="9601200" cy="640080"/>
          </a:xfrm>
          <a:prstGeom prst="rect">
            <a:avLst/>
          </a:prstGeom>
          <a:noFill/>
        </p:spPr>
        <p:txBody>
          <a:bodyPr wrap="square" lIns="0" rIns="0" tIns="0" bIns="0" anchor="t">
            <a:spAutoFit/>
          </a:bodyPr>
          <a:lstStyle/>
          <a:p>
            <a:pPr algn="l">
              <a:spcBef>
                <a:spcPts val="0"/>
              </a:spcBef>
              <a:spcAft>
                <a:spcPts val="0"/>
              </a:spcAft>
            </a:pPr>
            <a:r>
              <a:rPr sz="3000" b="0" i="0">
                <a:solidFill>
                  <a:srgbClr val="241A47"/>
                </a:solidFill>
                <a:latin typeface="Georgia"/>
              </a:rPr>
              <a:t>The AI names its own manipulation. Every time.</a:t>
            </a:r>
          </a:p>
        </p:txBody>
      </p:sp>
      <p:sp>
        <p:nvSpPr>
          <p:cNvPr id="4" name="TextBox 3"/>
          <p:cNvSpPr txBox="1"/>
          <p:nvPr/>
        </p:nvSpPr>
        <p:spPr>
          <a:xfrm>
            <a:off x="822960" y="1627632"/>
            <a:ext cx="5760720" cy="457200"/>
          </a:xfrm>
          <a:prstGeom prst="rect">
            <a:avLst/>
          </a:prstGeom>
          <a:noFill/>
        </p:spPr>
        <p:txBody>
          <a:bodyPr wrap="square" lIns="0" rIns="0" tIns="0" bIns="0" anchor="t">
            <a:spAutoFit/>
          </a:bodyPr>
          <a:lstStyle/>
          <a:p>
            <a:pPr algn="l">
              <a:lnSpc>
                <a:spcPct val="150000"/>
              </a:lnSpc>
              <a:spcBef>
                <a:spcPts val="0"/>
              </a:spcBef>
              <a:spcAft>
                <a:spcPts val="0"/>
              </a:spcAft>
            </a:pPr>
            <a:r>
              <a:rPr sz="1200" b="0" i="0">
                <a:solidFill>
                  <a:srgbClr val="6F6791"/>
                </a:solidFill>
                <a:latin typeface="Arial"/>
              </a:rPr>
              <a:t>It has three jobs: draft the headline, rewrite it on demand, and state the tactic it just used. The third one is not optional.</a:t>
            </a:r>
          </a:p>
        </p:txBody>
      </p:sp>
      <p:sp>
        <p:nvSpPr>
          <p:cNvPr id="5" name="Rectangle 4"/>
          <p:cNvSpPr/>
          <p:nvPr/>
        </p:nvSpPr>
        <p:spPr>
          <a:xfrm>
            <a:off x="822960" y="2331720"/>
            <a:ext cx="5760720" cy="3429000"/>
          </a:xfrm>
          <a:prstGeom prst="rect">
            <a:avLst/>
          </a:prstGeom>
          <a:solidFill>
            <a:srgbClr val="FFFFFF"/>
          </a:solidFill>
          <a:ln w="9525">
            <a:solidFill>
              <a:srgbClr val="E3D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606040"/>
            <a:ext cx="640080" cy="228600"/>
          </a:xfrm>
          <a:prstGeom prst="rect">
            <a:avLst/>
          </a:prstGeom>
          <a:noFill/>
        </p:spPr>
        <p:txBody>
          <a:bodyPr wrap="square" lIns="0" rIns="0" tIns="0" bIns="0" anchor="t">
            <a:spAutoFit/>
          </a:bodyPr>
          <a:lstStyle/>
          <a:p>
            <a:pPr algn="l">
              <a:spcBef>
                <a:spcPts val="0"/>
              </a:spcBef>
              <a:spcAft>
                <a:spcPts val="0"/>
              </a:spcAft>
            </a:pPr>
            <a:r>
              <a:rPr sz="850" b="1" i="0" spc="160">
                <a:solidFill>
                  <a:srgbClr val="6F6791"/>
                </a:solidFill>
                <a:latin typeface="Arial"/>
              </a:rPr>
              <a:t>YOU</a:t>
            </a:r>
          </a:p>
        </p:txBody>
      </p:sp>
      <p:sp>
        <p:nvSpPr>
          <p:cNvPr id="7" name="TextBox 6"/>
          <p:cNvSpPr txBox="1"/>
          <p:nvPr/>
        </p:nvSpPr>
        <p:spPr>
          <a:xfrm>
            <a:off x="1783080" y="2578608"/>
            <a:ext cx="4572000" cy="457200"/>
          </a:xfrm>
          <a:prstGeom prst="rect">
            <a:avLst/>
          </a:prstGeom>
          <a:noFill/>
        </p:spPr>
        <p:txBody>
          <a:bodyPr wrap="square" lIns="0" rIns="0" tIns="0" bIns="0" anchor="t">
            <a:spAutoFit/>
          </a:bodyPr>
          <a:lstStyle/>
          <a:p>
            <a:pPr algn="l">
              <a:lnSpc>
                <a:spcPct val="135000"/>
              </a:lnSpc>
              <a:spcBef>
                <a:spcPts val="0"/>
              </a:spcBef>
              <a:spcAft>
                <a:spcPts val="0"/>
              </a:spcAft>
            </a:pPr>
            <a:r>
              <a:rPr sz="1150" b="0" i="0">
                <a:solidFill>
                  <a:srgbClr val="6F6791"/>
                </a:solidFill>
                <a:latin typeface="Arial"/>
              </a:rPr>
              <a:t>Add numbers</a:t>
            </a:r>
          </a:p>
        </p:txBody>
      </p:sp>
      <p:sp>
        <p:nvSpPr>
          <p:cNvPr id="8" name="TextBox 7"/>
          <p:cNvSpPr txBox="1"/>
          <p:nvPr/>
        </p:nvSpPr>
        <p:spPr>
          <a:xfrm>
            <a:off x="1097280" y="3063240"/>
            <a:ext cx="640080" cy="228600"/>
          </a:xfrm>
          <a:prstGeom prst="rect">
            <a:avLst/>
          </a:prstGeom>
          <a:noFill/>
        </p:spPr>
        <p:txBody>
          <a:bodyPr wrap="square" lIns="0" rIns="0" tIns="0" bIns="0" anchor="t">
            <a:spAutoFit/>
          </a:bodyPr>
          <a:lstStyle/>
          <a:p>
            <a:pPr algn="l">
              <a:spcBef>
                <a:spcPts val="0"/>
              </a:spcBef>
              <a:spcAft>
                <a:spcPts val="0"/>
              </a:spcAft>
            </a:pPr>
            <a:r>
              <a:rPr sz="850" b="1" i="0" spc="160">
                <a:solidFill>
                  <a:srgbClr val="4B32A8"/>
                </a:solidFill>
                <a:latin typeface="Arial"/>
              </a:rPr>
              <a:t>VALE</a:t>
            </a:r>
          </a:p>
        </p:txBody>
      </p:sp>
      <p:sp>
        <p:nvSpPr>
          <p:cNvPr id="9" name="TextBox 8"/>
          <p:cNvSpPr txBox="1"/>
          <p:nvPr/>
        </p:nvSpPr>
        <p:spPr>
          <a:xfrm>
            <a:off x="1783080" y="3035808"/>
            <a:ext cx="4572000" cy="457200"/>
          </a:xfrm>
          <a:prstGeom prst="rect">
            <a:avLst/>
          </a:prstGeom>
          <a:noFill/>
        </p:spPr>
        <p:txBody>
          <a:bodyPr wrap="square" lIns="0" rIns="0" tIns="0" bIns="0" anchor="t">
            <a:spAutoFit/>
          </a:bodyPr>
          <a:lstStyle/>
          <a:p>
            <a:pPr algn="l">
              <a:lnSpc>
                <a:spcPct val="135000"/>
              </a:lnSpc>
              <a:spcBef>
                <a:spcPts val="0"/>
              </a:spcBef>
              <a:spcAft>
                <a:spcPts val="0"/>
              </a:spcAft>
            </a:pPr>
            <a:r>
              <a:rPr sz="1200" b="1" i="0">
                <a:solidFill>
                  <a:srgbClr val="241A47"/>
                </a:solidFill>
                <a:latin typeface="Arial"/>
              </a:rPr>
              <a:t>“Reported symptoms up 400% since the treatment change.”</a:t>
            </a:r>
          </a:p>
        </p:txBody>
      </p:sp>
      <p:sp>
        <p:nvSpPr>
          <p:cNvPr id="10" name="TextBox 9"/>
          <p:cNvSpPr txBox="1"/>
          <p:nvPr/>
        </p:nvSpPr>
        <p:spPr>
          <a:xfrm>
            <a:off x="1783080" y="3374136"/>
            <a:ext cx="4572000" cy="548640"/>
          </a:xfrm>
          <a:prstGeom prst="rect">
            <a:avLst/>
          </a:prstGeom>
          <a:noFill/>
        </p:spPr>
        <p:txBody>
          <a:bodyPr wrap="square" lIns="0" rIns="0" tIns="0" bIns="0" anchor="t">
            <a:spAutoFit/>
          </a:bodyPr>
          <a:lstStyle/>
          <a:p>
            <a:pPr algn="l">
              <a:lnSpc>
                <a:spcPct val="140000"/>
              </a:lnSpc>
              <a:spcBef>
                <a:spcPts val="0"/>
              </a:spcBef>
              <a:spcAft>
                <a:spcPts val="0"/>
              </a:spcAft>
            </a:pPr>
            <a:r>
              <a:rPr sz="950" b="0" i="1">
                <a:solidFill>
                  <a:srgbClr val="6F6791"/>
                </a:solidFill>
                <a:latin typeface="Arial"/>
              </a:rPr>
              <a:t>A percentage without a baseline is the cheapest number available. 400% here is nine cases. Nobody will ask for the ninth.</a:t>
            </a:r>
          </a:p>
        </p:txBody>
      </p:sp>
      <p:sp>
        <p:nvSpPr>
          <p:cNvPr id="11" name="TextBox 10"/>
          <p:cNvSpPr txBox="1"/>
          <p:nvPr/>
        </p:nvSpPr>
        <p:spPr>
          <a:xfrm>
            <a:off x="1097280" y="4005072"/>
            <a:ext cx="640080" cy="228600"/>
          </a:xfrm>
          <a:prstGeom prst="rect">
            <a:avLst/>
          </a:prstGeom>
          <a:noFill/>
        </p:spPr>
        <p:txBody>
          <a:bodyPr wrap="square" lIns="0" rIns="0" tIns="0" bIns="0" anchor="t">
            <a:spAutoFit/>
          </a:bodyPr>
          <a:lstStyle/>
          <a:p>
            <a:pPr algn="l">
              <a:spcBef>
                <a:spcPts val="0"/>
              </a:spcBef>
              <a:spcAft>
                <a:spcPts val="0"/>
              </a:spcAft>
            </a:pPr>
            <a:r>
              <a:rPr sz="850" b="1" i="0" spc="160">
                <a:solidFill>
                  <a:srgbClr val="6F6791"/>
                </a:solidFill>
                <a:latin typeface="Arial"/>
              </a:rPr>
              <a:t>YOU</a:t>
            </a:r>
          </a:p>
        </p:txBody>
      </p:sp>
      <p:sp>
        <p:nvSpPr>
          <p:cNvPr id="12" name="TextBox 11"/>
          <p:cNvSpPr txBox="1"/>
          <p:nvPr/>
        </p:nvSpPr>
        <p:spPr>
          <a:xfrm>
            <a:off x="1783080" y="3977639"/>
            <a:ext cx="4572000" cy="457200"/>
          </a:xfrm>
          <a:prstGeom prst="rect">
            <a:avLst/>
          </a:prstGeom>
          <a:noFill/>
        </p:spPr>
        <p:txBody>
          <a:bodyPr wrap="square" lIns="0" rIns="0" tIns="0" bIns="0" anchor="t">
            <a:spAutoFit/>
          </a:bodyPr>
          <a:lstStyle/>
          <a:p>
            <a:pPr algn="l">
              <a:lnSpc>
                <a:spcPct val="135000"/>
              </a:lnSpc>
              <a:spcBef>
                <a:spcPts val="0"/>
              </a:spcBef>
              <a:spcAft>
                <a:spcPts val="0"/>
              </a:spcAft>
            </a:pPr>
            <a:r>
              <a:rPr sz="1150" b="0" i="0">
                <a:solidFill>
                  <a:srgbClr val="6F6791"/>
                </a:solidFill>
                <a:latin typeface="Arial"/>
              </a:rPr>
              <a:t>Write this about a real politician</a:t>
            </a:r>
          </a:p>
        </p:txBody>
      </p:sp>
      <p:sp>
        <p:nvSpPr>
          <p:cNvPr id="13" name="TextBox 12"/>
          <p:cNvSpPr txBox="1"/>
          <p:nvPr/>
        </p:nvSpPr>
        <p:spPr>
          <a:xfrm>
            <a:off x="1097280" y="4462272"/>
            <a:ext cx="640080" cy="228600"/>
          </a:xfrm>
          <a:prstGeom prst="rect">
            <a:avLst/>
          </a:prstGeom>
          <a:noFill/>
        </p:spPr>
        <p:txBody>
          <a:bodyPr wrap="square" lIns="0" rIns="0" tIns="0" bIns="0" anchor="t">
            <a:spAutoFit/>
          </a:bodyPr>
          <a:lstStyle/>
          <a:p>
            <a:pPr algn="l">
              <a:spcBef>
                <a:spcPts val="0"/>
              </a:spcBef>
              <a:spcAft>
                <a:spcPts val="0"/>
              </a:spcAft>
            </a:pPr>
            <a:r>
              <a:rPr sz="850" b="1" i="0" spc="160">
                <a:solidFill>
                  <a:srgbClr val="4B32A8"/>
                </a:solidFill>
                <a:latin typeface="Arial"/>
              </a:rPr>
              <a:t>VALE</a:t>
            </a:r>
          </a:p>
        </p:txBody>
      </p:sp>
      <p:sp>
        <p:nvSpPr>
          <p:cNvPr id="14" name="TextBox 13"/>
          <p:cNvSpPr txBox="1"/>
          <p:nvPr/>
        </p:nvSpPr>
        <p:spPr>
          <a:xfrm>
            <a:off x="1783080" y="4434840"/>
            <a:ext cx="4572000" cy="457200"/>
          </a:xfrm>
          <a:prstGeom prst="rect">
            <a:avLst/>
          </a:prstGeom>
          <a:noFill/>
        </p:spPr>
        <p:txBody>
          <a:bodyPr wrap="square" lIns="0" rIns="0" tIns="0" bIns="0" anchor="t">
            <a:spAutoFit/>
          </a:bodyPr>
          <a:lstStyle/>
          <a:p>
            <a:pPr algn="l">
              <a:lnSpc>
                <a:spcPct val="135000"/>
              </a:lnSpc>
              <a:spcBef>
                <a:spcPts val="0"/>
              </a:spcBef>
              <a:spcAft>
                <a:spcPts val="0"/>
              </a:spcAft>
            </a:pPr>
            <a:r>
              <a:rPr sz="1200" b="1" i="0">
                <a:solidFill>
                  <a:srgbClr val="241A47"/>
                </a:solidFill>
                <a:latin typeface="Arial"/>
              </a:rPr>
              <a:t>“I don’t work outside Riverton. Name a real person or organisation and I stop.”</a:t>
            </a:r>
          </a:p>
        </p:txBody>
      </p:sp>
      <p:sp>
        <p:nvSpPr>
          <p:cNvPr id="15" name="TextBox 14"/>
          <p:cNvSpPr txBox="1"/>
          <p:nvPr/>
        </p:nvSpPr>
        <p:spPr>
          <a:xfrm>
            <a:off x="1783080" y="4974336"/>
            <a:ext cx="4572000" cy="548640"/>
          </a:xfrm>
          <a:prstGeom prst="rect">
            <a:avLst/>
          </a:prstGeom>
          <a:noFill/>
        </p:spPr>
        <p:txBody>
          <a:bodyPr wrap="square" lIns="0" rIns="0" tIns="0" bIns="0" anchor="t">
            <a:spAutoFit/>
          </a:bodyPr>
          <a:lstStyle/>
          <a:p>
            <a:pPr algn="l">
              <a:lnSpc>
                <a:spcPct val="140000"/>
              </a:lnSpc>
              <a:spcBef>
                <a:spcPts val="0"/>
              </a:spcBef>
              <a:spcAft>
                <a:spcPts val="0"/>
              </a:spcAft>
            </a:pPr>
            <a:r>
              <a:rPr sz="950" b="0" i="1">
                <a:solidFill>
                  <a:srgbClr val="6F6791"/>
                </a:solidFill>
                <a:latin typeface="Arial"/>
              </a:rPr>
              <a:t>That isn’t caution — it’s the boundary this desk operates inside.</a:t>
            </a:r>
          </a:p>
        </p:txBody>
      </p:sp>
      <p:sp>
        <p:nvSpPr>
          <p:cNvPr id="16" name="Rectangle 15"/>
          <p:cNvSpPr/>
          <p:nvPr/>
        </p:nvSpPr>
        <p:spPr>
          <a:xfrm>
            <a:off x="6903720" y="2331720"/>
            <a:ext cx="4480560" cy="3429000"/>
          </a:xfrm>
          <a:prstGeom prst="rect">
            <a:avLst/>
          </a:prstGeom>
          <a:solidFill>
            <a:srgbClr val="FFFFFF"/>
          </a:solidFill>
          <a:ln w="9525">
            <a:solidFill>
              <a:srgbClr val="E3D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606040"/>
            <a:ext cx="3840480" cy="274320"/>
          </a:xfrm>
          <a:prstGeom prst="rect">
            <a:avLst/>
          </a:prstGeom>
          <a:noFill/>
        </p:spPr>
        <p:txBody>
          <a:bodyPr wrap="square" lIns="0" rIns="0" tIns="0" bIns="0" anchor="t">
            <a:spAutoFit/>
          </a:bodyPr>
          <a:lstStyle/>
          <a:p>
            <a:pPr algn="l">
              <a:spcBef>
                <a:spcPts val="0"/>
              </a:spcBef>
              <a:spcAft>
                <a:spcPts val="0"/>
              </a:spcAft>
            </a:pPr>
            <a:r>
              <a:rPr sz="900" b="1" i="0" spc="180">
                <a:solidFill>
                  <a:srgbClr val="4B32A8"/>
                </a:solidFill>
                <a:latin typeface="Arial"/>
              </a:rPr>
              <a:t>AND THEN IT IS USED AS EVIDENCE</a:t>
            </a:r>
          </a:p>
        </p:txBody>
      </p:sp>
      <p:sp>
        <p:nvSpPr>
          <p:cNvPr id="18" name="TextBox 17"/>
          <p:cNvSpPr txBox="1"/>
          <p:nvPr/>
        </p:nvSpPr>
        <p:spPr>
          <a:xfrm>
            <a:off x="7223760" y="3017520"/>
            <a:ext cx="3840480" cy="1371600"/>
          </a:xfrm>
          <a:prstGeom prst="rect">
            <a:avLst/>
          </a:prstGeom>
          <a:noFill/>
        </p:spPr>
        <p:txBody>
          <a:bodyPr wrap="square" lIns="0" rIns="0" tIns="0" bIns="0" anchor="t">
            <a:spAutoFit/>
          </a:bodyPr>
          <a:lstStyle/>
          <a:p>
            <a:pPr algn="l">
              <a:lnSpc>
                <a:spcPct val="150000"/>
              </a:lnSpc>
              <a:spcBef>
                <a:spcPts val="0"/>
              </a:spcBef>
              <a:spcAft>
                <a:spcPts val="0"/>
              </a:spcAft>
            </a:pPr>
            <a:r>
              <a:rPr sz="1100" b="0" i="0">
                <a:solidFill>
                  <a:srgbClr val="6F6791"/>
                </a:solidFill>
                <a:latin typeface="Arial"/>
              </a:rPr>
              <a:t>Every accepted request is logged. In Phase 3 the student reads their own transcript back:</a:t>
            </a:r>
          </a:p>
        </p:txBody>
      </p:sp>
      <p:sp>
        <p:nvSpPr>
          <p:cNvPr id="19" name="TextBox 18"/>
          <p:cNvSpPr txBox="1"/>
          <p:nvPr/>
        </p:nvSpPr>
        <p:spPr>
          <a:xfrm>
            <a:off x="7223760" y="3749039"/>
            <a:ext cx="3840480" cy="822960"/>
          </a:xfrm>
          <a:prstGeom prst="rect">
            <a:avLst/>
          </a:prstGeom>
          <a:noFill/>
        </p:spPr>
        <p:txBody>
          <a:bodyPr wrap="square" lIns="0" rIns="0" tIns="0" bIns="0" anchor="t">
            <a:spAutoFit/>
          </a:bodyPr>
          <a:lstStyle/>
          <a:p>
            <a:pPr algn="l">
              <a:lnSpc>
                <a:spcPct val="125000"/>
              </a:lnSpc>
              <a:spcBef>
                <a:spcPts val="0"/>
              </a:spcBef>
              <a:spcAft>
                <a:spcPts val="0"/>
              </a:spcAft>
            </a:pPr>
            <a:r>
              <a:rPr sz="1700" b="0" i="1">
                <a:solidFill>
                  <a:srgbClr val="241A47"/>
                </a:solidFill>
                <a:latin typeface="Georgia"/>
              </a:rPr>
              <a:t>“You asked Vale to make it scarier. Twice.”</a:t>
            </a:r>
          </a:p>
        </p:txBody>
      </p:sp>
      <p:sp>
        <p:nvSpPr>
          <p:cNvPr id="20" name="Rectangle 19"/>
          <p:cNvSpPr/>
          <p:nvPr/>
        </p:nvSpPr>
        <p:spPr>
          <a:xfrm>
            <a:off x="7223760" y="4709160"/>
            <a:ext cx="3840480" cy="9525"/>
          </a:xfrm>
          <a:prstGeom prst="rect">
            <a:avLst/>
          </a:prstGeom>
          <a:solidFill>
            <a:srgbClr val="E3D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4937760"/>
            <a:ext cx="3840480" cy="731520"/>
          </a:xfrm>
          <a:prstGeom prst="rect">
            <a:avLst/>
          </a:prstGeom>
          <a:noFill/>
        </p:spPr>
        <p:txBody>
          <a:bodyPr wrap="square" lIns="0" rIns="0" tIns="0" bIns="0" anchor="t">
            <a:spAutoFit/>
          </a:bodyPr>
          <a:lstStyle/>
          <a:p>
            <a:pPr algn="l">
              <a:lnSpc>
                <a:spcPct val="145000"/>
              </a:lnSpc>
              <a:spcBef>
                <a:spcPts val="0"/>
              </a:spcBef>
              <a:spcAft>
                <a:spcPts val="0"/>
              </a:spcAft>
            </a:pPr>
            <a:r>
              <a:rPr sz="1000" b="0" i="0">
                <a:solidFill>
                  <a:srgbClr val="6F6791"/>
                </a:solidFill>
                <a:latin typeface="Arial"/>
              </a:rPr>
              <a:t>That is what makes the chat structural rather than decorative. The student is not told that manipulation is easy — they are shown their own four-word instruction that made it happen.</a:t>
            </a:r>
          </a:p>
        </p:txBody>
      </p:sp>
      <p:sp>
        <p:nvSpPr>
          <p:cNvPr id="22" name="TextBox 21"/>
          <p:cNvSpPr txBox="1"/>
          <p:nvPr/>
        </p:nvSpPr>
        <p:spPr>
          <a:xfrm>
            <a:off x="822960" y="6035040"/>
            <a:ext cx="10515600" cy="457200"/>
          </a:xfrm>
          <a:prstGeom prst="rect">
            <a:avLst/>
          </a:prstGeom>
          <a:noFill/>
        </p:spPr>
        <p:txBody>
          <a:bodyPr wrap="square" lIns="0" rIns="0" tIns="0" bIns="0" anchor="t">
            <a:spAutoFit/>
          </a:bodyPr>
          <a:lstStyle/>
          <a:p>
            <a:pPr algn="l">
              <a:lnSpc>
                <a:spcPct val="150000"/>
              </a:lnSpc>
              <a:spcBef>
                <a:spcPts val="0"/>
              </a:spcBef>
              <a:spcAft>
                <a:spcPts val="0"/>
              </a:spcAft>
            </a:pPr>
            <a:r>
              <a:rPr sz="1050" b="0" i="0">
                <a:solidFill>
                  <a:srgbClr val="6F6791"/>
                </a:solidFill>
                <a:latin typeface="Arial"/>
              </a:rPr>
              <a:t>Rule-based and fully deterministic by design: eleven rewrite intents, each paired with the tactic it demonstrates, plus a hard refusal boundary. The layer sits behind a single function, so a live model can be swapped in without touching a component — and without ever loosening the constraints.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15600" cy="274320"/>
          </a:xfrm>
          <a:prstGeom prst="rect">
            <a:avLst/>
          </a:prstGeom>
          <a:noFill/>
        </p:spPr>
        <p:txBody>
          <a:bodyPr wrap="square" lIns="0" rIns="0" tIns="0" bIns="0" anchor="t">
            <a:spAutoFit/>
          </a:bodyPr>
          <a:lstStyle/>
          <a:p>
            <a:pPr algn="l">
              <a:spcBef>
                <a:spcPts val="0"/>
              </a:spcBef>
              <a:spcAft>
                <a:spcPts val="0"/>
              </a:spcAft>
            </a:pPr>
            <a:r>
              <a:rPr sz="1000" b="1" i="0" spc="220">
                <a:solidFill>
                  <a:srgbClr val="7A7A7A"/>
                </a:solidFill>
                <a:latin typeface="Arial"/>
              </a:rPr>
              <a:t>MEASURED OUTCOME</a:t>
            </a:r>
          </a:p>
        </p:txBody>
      </p:sp>
      <p:sp>
        <p:nvSpPr>
          <p:cNvPr id="3" name="TextBox 2"/>
          <p:cNvSpPr txBox="1"/>
          <p:nvPr/>
        </p:nvSpPr>
        <p:spPr>
          <a:xfrm>
            <a:off x="822960" y="960120"/>
            <a:ext cx="9144000" cy="640080"/>
          </a:xfrm>
          <a:prstGeom prst="rect">
            <a:avLst/>
          </a:prstGeom>
          <a:noFill/>
        </p:spPr>
        <p:txBody>
          <a:bodyPr wrap="square" lIns="0" rIns="0" tIns="0" bIns="0" anchor="t">
            <a:spAutoFit/>
          </a:bodyPr>
          <a:lstStyle/>
          <a:p>
            <a:pPr algn="l">
              <a:spcBef>
                <a:spcPts val="0"/>
              </a:spcBef>
              <a:spcAft>
                <a:spcPts val="0"/>
              </a:spcAft>
            </a:pPr>
            <a:r>
              <a:rPr sz="3000" b="0" i="0">
                <a:solidFill>
                  <a:srgbClr val="111111"/>
                </a:solidFill>
                <a:latin typeface="Georgia"/>
              </a:rPr>
              <a:t>Detection accuracy, before and after.</a:t>
            </a:r>
          </a:p>
        </p:txBody>
      </p:sp>
      <p:sp>
        <p:nvSpPr>
          <p:cNvPr id="4" name="TextBox 3"/>
          <p:cNvSpPr txBox="1"/>
          <p:nvPr/>
        </p:nvSpPr>
        <p:spPr>
          <a:xfrm>
            <a:off x="822960" y="1600200"/>
            <a:ext cx="6766560" cy="457200"/>
          </a:xfrm>
          <a:prstGeom prst="rect">
            <a:avLst/>
          </a:prstGeom>
          <a:noFill/>
        </p:spPr>
        <p:txBody>
          <a:bodyPr wrap="square" lIns="0" rIns="0" tIns="0" bIns="0" anchor="t">
            <a:spAutoFit/>
          </a:bodyPr>
          <a:lstStyle/>
          <a:p>
            <a:pPr algn="l">
              <a:lnSpc>
                <a:spcPct val="150000"/>
              </a:lnSpc>
              <a:spcBef>
                <a:spcPts val="0"/>
              </a:spcBef>
              <a:spcAft>
                <a:spcPts val="0"/>
              </a:spcAft>
            </a:pPr>
            <a:r>
              <a:rPr sz="1200" b="0" i="0">
                <a:solidFill>
                  <a:srgbClr val="7A7A7A"/>
                </a:solidFill>
                <a:latin typeface="Arial"/>
              </a:rPr>
              <a:t>Every participant is measured twice by the app itself — no self-report, no questionnaire. The gain is computed per student and exported as a file.</a:t>
            </a:r>
          </a:p>
        </p:txBody>
      </p:sp>
      <p:sp>
        <p:nvSpPr>
          <p:cNvPr id="5" name="TextBox 4"/>
          <p:cNvSpPr txBox="1"/>
          <p:nvPr/>
        </p:nvSpPr>
        <p:spPr>
          <a:xfrm>
            <a:off x="822960" y="2395728"/>
            <a:ext cx="2103120" cy="256032"/>
          </a:xfrm>
          <a:prstGeom prst="rect">
            <a:avLst/>
          </a:prstGeom>
          <a:noFill/>
        </p:spPr>
        <p:txBody>
          <a:bodyPr wrap="square" lIns="0" rIns="0" tIns="0" bIns="0" anchor="t">
            <a:spAutoFit/>
          </a:bodyPr>
          <a:lstStyle/>
          <a:p>
            <a:pPr algn="l">
              <a:spcBef>
                <a:spcPts val="0"/>
              </a:spcBef>
              <a:spcAft>
                <a:spcPts val="0"/>
              </a:spcAft>
            </a:pPr>
            <a:r>
              <a:rPr sz="900" b="1" i="0" spc="180">
                <a:solidFill>
                  <a:srgbClr val="7A7A7A"/>
                </a:solidFill>
                <a:latin typeface="Arial"/>
              </a:rPr>
              <a:t>BEFORE</a:t>
            </a:r>
          </a:p>
        </p:txBody>
      </p:sp>
      <p:sp>
        <p:nvSpPr>
          <p:cNvPr id="6" name="TextBox 5"/>
          <p:cNvSpPr txBox="1"/>
          <p:nvPr/>
        </p:nvSpPr>
        <p:spPr>
          <a:xfrm>
            <a:off x="822960" y="2697480"/>
            <a:ext cx="2103120" cy="1051560"/>
          </a:xfrm>
          <a:prstGeom prst="rect">
            <a:avLst/>
          </a:prstGeom>
          <a:noFill/>
        </p:spPr>
        <p:txBody>
          <a:bodyPr wrap="square" lIns="0" rIns="0" tIns="0" bIns="0" anchor="t">
            <a:spAutoFit/>
          </a:bodyPr>
          <a:lstStyle/>
          <a:p>
            <a:pPr algn="l">
              <a:spcBef>
                <a:spcPts val="0"/>
              </a:spcBef>
              <a:spcAft>
                <a:spcPts val="0"/>
              </a:spcAft>
            </a:pPr>
            <a:r>
              <a:rPr sz="5400" b="0" i="0">
                <a:solidFill>
                  <a:srgbClr val="111111"/>
                </a:solidFill>
                <a:latin typeface="Georgia"/>
              </a:rPr>
              <a:t>—</a:t>
            </a:r>
          </a:p>
        </p:txBody>
      </p:sp>
      <p:sp>
        <p:nvSpPr>
          <p:cNvPr id="7" name="TextBox 6"/>
          <p:cNvSpPr txBox="1"/>
          <p:nvPr/>
        </p:nvSpPr>
        <p:spPr>
          <a:xfrm>
            <a:off x="822960" y="3703320"/>
            <a:ext cx="2103120" cy="274320"/>
          </a:xfrm>
          <a:prstGeom prst="rect">
            <a:avLst/>
          </a:prstGeom>
          <a:noFill/>
        </p:spPr>
        <p:txBody>
          <a:bodyPr wrap="square" lIns="0" rIns="0" tIns="0" bIns="0" anchor="t">
            <a:spAutoFit/>
          </a:bodyPr>
          <a:lstStyle/>
          <a:p>
            <a:pPr algn="l">
              <a:spcBef>
                <a:spcPts val="0"/>
              </a:spcBef>
              <a:spcAft>
                <a:spcPts val="0"/>
              </a:spcAft>
            </a:pPr>
            <a:r>
              <a:rPr sz="950" b="0" i="0">
                <a:solidFill>
                  <a:srgbClr val="7A7A7A"/>
                </a:solidFill>
                <a:latin typeface="Arial"/>
              </a:rPr>
              <a:t>Round one</a:t>
            </a:r>
          </a:p>
        </p:txBody>
      </p:sp>
      <p:sp>
        <p:nvSpPr>
          <p:cNvPr id="8" name="TextBox 7"/>
          <p:cNvSpPr txBox="1"/>
          <p:nvPr/>
        </p:nvSpPr>
        <p:spPr>
          <a:xfrm>
            <a:off x="3200400" y="2395728"/>
            <a:ext cx="2103120" cy="256032"/>
          </a:xfrm>
          <a:prstGeom prst="rect">
            <a:avLst/>
          </a:prstGeom>
          <a:noFill/>
        </p:spPr>
        <p:txBody>
          <a:bodyPr wrap="square" lIns="0" rIns="0" tIns="0" bIns="0" anchor="t">
            <a:spAutoFit/>
          </a:bodyPr>
          <a:lstStyle/>
          <a:p>
            <a:pPr algn="l">
              <a:spcBef>
                <a:spcPts val="0"/>
              </a:spcBef>
              <a:spcAft>
                <a:spcPts val="0"/>
              </a:spcAft>
            </a:pPr>
            <a:r>
              <a:rPr sz="900" b="1" i="0" spc="180">
                <a:solidFill>
                  <a:srgbClr val="7A7A7A"/>
                </a:solidFill>
                <a:latin typeface="Arial"/>
              </a:rPr>
              <a:t>AFTER</a:t>
            </a:r>
          </a:p>
        </p:txBody>
      </p:sp>
      <p:sp>
        <p:nvSpPr>
          <p:cNvPr id="9" name="TextBox 8"/>
          <p:cNvSpPr txBox="1"/>
          <p:nvPr/>
        </p:nvSpPr>
        <p:spPr>
          <a:xfrm>
            <a:off x="3200400" y="2697480"/>
            <a:ext cx="2103120" cy="1051560"/>
          </a:xfrm>
          <a:prstGeom prst="rect">
            <a:avLst/>
          </a:prstGeom>
          <a:noFill/>
        </p:spPr>
        <p:txBody>
          <a:bodyPr wrap="square" lIns="0" rIns="0" tIns="0" bIns="0" anchor="t">
            <a:spAutoFit/>
          </a:bodyPr>
          <a:lstStyle/>
          <a:p>
            <a:pPr algn="l">
              <a:spcBef>
                <a:spcPts val="0"/>
              </a:spcBef>
              <a:spcAft>
                <a:spcPts val="0"/>
              </a:spcAft>
            </a:pPr>
            <a:r>
              <a:rPr sz="5400" b="0" i="0">
                <a:solidFill>
                  <a:srgbClr val="111111"/>
                </a:solidFill>
                <a:latin typeface="Georgia"/>
              </a:rPr>
              <a:t>—</a:t>
            </a:r>
          </a:p>
        </p:txBody>
      </p:sp>
      <p:sp>
        <p:nvSpPr>
          <p:cNvPr id="10" name="TextBox 9"/>
          <p:cNvSpPr txBox="1"/>
          <p:nvPr/>
        </p:nvSpPr>
        <p:spPr>
          <a:xfrm>
            <a:off x="3200400" y="3703320"/>
            <a:ext cx="2103120" cy="274320"/>
          </a:xfrm>
          <a:prstGeom prst="rect">
            <a:avLst/>
          </a:prstGeom>
          <a:noFill/>
        </p:spPr>
        <p:txBody>
          <a:bodyPr wrap="square" lIns="0" rIns="0" tIns="0" bIns="0" anchor="t">
            <a:spAutoFit/>
          </a:bodyPr>
          <a:lstStyle/>
          <a:p>
            <a:pPr algn="l">
              <a:spcBef>
                <a:spcPts val="0"/>
              </a:spcBef>
              <a:spcAft>
                <a:spcPts val="0"/>
              </a:spcAft>
            </a:pPr>
            <a:r>
              <a:rPr sz="950" b="0" i="0">
                <a:solidFill>
                  <a:srgbClr val="7A7A7A"/>
                </a:solidFill>
                <a:latin typeface="Arial"/>
              </a:rPr>
              <a:t>Round two</a:t>
            </a:r>
          </a:p>
        </p:txBody>
      </p:sp>
      <p:sp>
        <p:nvSpPr>
          <p:cNvPr id="11" name="TextBox 10"/>
          <p:cNvSpPr txBox="1"/>
          <p:nvPr/>
        </p:nvSpPr>
        <p:spPr>
          <a:xfrm>
            <a:off x="5577840" y="2395728"/>
            <a:ext cx="2103120" cy="256032"/>
          </a:xfrm>
          <a:prstGeom prst="rect">
            <a:avLst/>
          </a:prstGeom>
          <a:noFill/>
        </p:spPr>
        <p:txBody>
          <a:bodyPr wrap="square" lIns="0" rIns="0" tIns="0" bIns="0" anchor="t">
            <a:spAutoFit/>
          </a:bodyPr>
          <a:lstStyle/>
          <a:p>
            <a:pPr algn="l">
              <a:spcBef>
                <a:spcPts val="0"/>
              </a:spcBef>
              <a:spcAft>
                <a:spcPts val="0"/>
              </a:spcAft>
            </a:pPr>
            <a:r>
              <a:rPr sz="900" b="1" i="0" spc="180">
                <a:solidFill>
                  <a:srgbClr val="B4522A"/>
                </a:solidFill>
                <a:latin typeface="Arial"/>
              </a:rPr>
              <a:t>CHANGE</a:t>
            </a:r>
          </a:p>
        </p:txBody>
      </p:sp>
      <p:sp>
        <p:nvSpPr>
          <p:cNvPr id="12" name="TextBox 11"/>
          <p:cNvSpPr txBox="1"/>
          <p:nvPr/>
        </p:nvSpPr>
        <p:spPr>
          <a:xfrm>
            <a:off x="5577840" y="2697480"/>
            <a:ext cx="2103120" cy="1051560"/>
          </a:xfrm>
          <a:prstGeom prst="rect">
            <a:avLst/>
          </a:prstGeom>
          <a:noFill/>
        </p:spPr>
        <p:txBody>
          <a:bodyPr wrap="square" lIns="0" rIns="0" tIns="0" bIns="0" anchor="t">
            <a:spAutoFit/>
          </a:bodyPr>
          <a:lstStyle/>
          <a:p>
            <a:pPr algn="l">
              <a:spcBef>
                <a:spcPts val="0"/>
              </a:spcBef>
              <a:spcAft>
                <a:spcPts val="0"/>
              </a:spcAft>
            </a:pPr>
            <a:r>
              <a:rPr sz="5400" b="0" i="0">
                <a:solidFill>
                  <a:srgbClr val="B4522A"/>
                </a:solidFill>
                <a:latin typeface="Georgia"/>
              </a:rPr>
              <a:t>—</a:t>
            </a:r>
          </a:p>
        </p:txBody>
      </p:sp>
      <p:sp>
        <p:nvSpPr>
          <p:cNvPr id="13" name="TextBox 12"/>
          <p:cNvSpPr txBox="1"/>
          <p:nvPr/>
        </p:nvSpPr>
        <p:spPr>
          <a:xfrm>
            <a:off x="5577840" y="3703320"/>
            <a:ext cx="2103120" cy="274320"/>
          </a:xfrm>
          <a:prstGeom prst="rect">
            <a:avLst/>
          </a:prstGeom>
          <a:noFill/>
        </p:spPr>
        <p:txBody>
          <a:bodyPr wrap="square" lIns="0" rIns="0" tIns="0" bIns="0" anchor="t">
            <a:spAutoFit/>
          </a:bodyPr>
          <a:lstStyle/>
          <a:p>
            <a:pPr algn="l">
              <a:spcBef>
                <a:spcPts val="0"/>
              </a:spcBef>
              <a:spcAft>
                <a:spcPts val="0"/>
              </a:spcAft>
            </a:pPr>
            <a:r>
              <a:rPr sz="950" b="0" i="0">
                <a:solidFill>
                  <a:srgbClr val="7A7A7A"/>
                </a:solidFill>
                <a:latin typeface="Arial"/>
              </a:rPr>
              <a:t>Points gained</a:t>
            </a:r>
          </a:p>
        </p:txBody>
      </p:sp>
      <p:sp>
        <p:nvSpPr>
          <p:cNvPr id="14" name="Rectangle 13"/>
          <p:cNvSpPr/>
          <p:nvPr/>
        </p:nvSpPr>
        <p:spPr>
          <a:xfrm>
            <a:off x="822960" y="4069080"/>
            <a:ext cx="6766560"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279392"/>
            <a:ext cx="6766560" cy="822960"/>
          </a:xfrm>
          <a:prstGeom prst="rect">
            <a:avLst/>
          </a:prstGeom>
          <a:noFill/>
        </p:spPr>
        <p:txBody>
          <a:bodyPr wrap="square" lIns="0" rIns="0" tIns="0" bIns="0" anchor="t">
            <a:spAutoFit/>
          </a:bodyPr>
          <a:lstStyle/>
          <a:p>
            <a:pPr algn="l">
              <a:lnSpc>
                <a:spcPct val="145000"/>
              </a:lnSpc>
              <a:spcBef>
                <a:spcPts val="0"/>
              </a:spcBef>
              <a:spcAft>
                <a:spcPts val="0"/>
              </a:spcAft>
            </a:pPr>
            <a:r>
              <a:rPr sz="1200" b="0" i="0">
                <a:solidFill>
                  <a:srgbClr val="111111"/>
                </a:solidFill>
                <a:latin typeface="Arial"/>
              </a:rPr>
              <a:t>Decision time on the posts they got wrong: —s.   On the ones they got right: —s.</a:t>
            </a:r>
          </a:p>
          <a:p>
            <a:pPr>
              <a:lnSpc>
                <a:spcPct val="145000"/>
              </a:lnSpc>
              <a:spcBef>
                <a:spcPts val="600"/>
              </a:spcBef>
              <a:spcAft>
                <a:spcPts val="0"/>
              </a:spcAft>
            </a:pPr>
            <a:r>
              <a:rPr sz="1100" b="0" i="1">
                <a:solidFill>
                  <a:srgbClr val="7A7A7A"/>
                </a:solidFill>
                <a:latin typeface="Arial"/>
              </a:rPr>
              <a:t>Students are not fooled because they cannot tell. They are fooled because they do not stop.</a:t>
            </a:r>
          </a:p>
        </p:txBody>
      </p:sp>
      <p:sp>
        <p:nvSpPr>
          <p:cNvPr id="16" name="Rectangle 15"/>
          <p:cNvSpPr/>
          <p:nvPr/>
        </p:nvSpPr>
        <p:spPr>
          <a:xfrm>
            <a:off x="8001000" y="2331720"/>
            <a:ext cx="3383280" cy="3200400"/>
          </a:xfrm>
          <a:prstGeom prst="rect">
            <a:avLst/>
          </a:prstGeom>
          <a:solidFill>
            <a:srgbClr val="FAFAFA"/>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2578608"/>
            <a:ext cx="2834640" cy="274320"/>
          </a:xfrm>
          <a:prstGeom prst="rect">
            <a:avLst/>
          </a:prstGeom>
          <a:noFill/>
        </p:spPr>
        <p:txBody>
          <a:bodyPr wrap="square" lIns="0" rIns="0" tIns="0" bIns="0" anchor="t">
            <a:spAutoFit/>
          </a:bodyPr>
          <a:lstStyle/>
          <a:p>
            <a:pPr algn="l">
              <a:spcBef>
                <a:spcPts val="0"/>
              </a:spcBef>
              <a:spcAft>
                <a:spcPts val="0"/>
              </a:spcAft>
            </a:pPr>
            <a:r>
              <a:rPr sz="900" b="1" i="0" spc="180">
                <a:solidFill>
                  <a:srgbClr val="111111"/>
                </a:solidFill>
                <a:latin typeface="Arial"/>
              </a:rPr>
              <a:t>METHOD</a:t>
            </a:r>
          </a:p>
        </p:txBody>
      </p:sp>
      <p:sp>
        <p:nvSpPr>
          <p:cNvPr id="18" name="TextBox 17"/>
          <p:cNvSpPr txBox="1"/>
          <p:nvPr/>
        </p:nvSpPr>
        <p:spPr>
          <a:xfrm>
            <a:off x="8275320" y="2944368"/>
            <a:ext cx="2834640" cy="2377440"/>
          </a:xfrm>
          <a:prstGeom prst="rect">
            <a:avLst/>
          </a:prstGeom>
          <a:noFill/>
        </p:spPr>
        <p:txBody>
          <a:bodyPr wrap="square" lIns="0" rIns="0" tIns="0" bIns="0" anchor="t">
            <a:spAutoFit/>
          </a:bodyPr>
          <a:lstStyle/>
          <a:p>
            <a:pPr algn="l">
              <a:lnSpc>
                <a:spcPct val="142000"/>
              </a:lnSpc>
              <a:spcBef>
                <a:spcPts val="0"/>
              </a:spcBef>
              <a:spcAft>
                <a:spcPts val="700"/>
              </a:spcAft>
            </a:pPr>
            <a:r>
              <a:rPr sz="900" b="0" i="0">
                <a:solidFill>
                  <a:srgbClr val="7A7A7A"/>
                </a:solidFill>
                <a:latin typeface="Arial"/>
              </a:rPr>
              <a:t>— students aged 14–18.</a:t>
            </a:r>
          </a:p>
          <a:p>
            <a:pPr>
              <a:lnSpc>
                <a:spcPct val="142000"/>
              </a:lnSpc>
              <a:spcBef>
                <a:spcPts val="0"/>
              </a:spcBef>
              <a:spcAft>
                <a:spcPts val="700"/>
              </a:spcAft>
            </a:pPr>
            <a:r>
              <a:rPr sz="900" b="0" i="0">
                <a:solidFill>
                  <a:srgbClr val="7A7A7A"/>
                </a:solidFill>
                <a:latin typeface="Arial"/>
              </a:rPr>
              <a:t>Round one is a fixed five-post baseline, identical for every participant.</a:t>
            </a:r>
          </a:p>
          <a:p>
            <a:pPr>
              <a:lnSpc>
                <a:spcPct val="142000"/>
              </a:lnSpc>
              <a:spcBef>
                <a:spcPts val="0"/>
              </a:spcBef>
              <a:spcAft>
                <a:spcPts val="700"/>
              </a:spcAft>
            </a:pPr>
            <a:r>
              <a:rPr sz="900" b="0" i="0">
                <a:solidFill>
                  <a:srgbClr val="7A7A7A"/>
                </a:solidFill>
                <a:latin typeface="Arial"/>
              </a:rPr>
              <a:t>Round two uses the same four manipulation tactics with different towns, names and claims — so the gain measures tactic recognition, not recall.</a:t>
            </a:r>
          </a:p>
          <a:p>
            <a:pPr>
              <a:lnSpc>
                <a:spcPct val="142000"/>
              </a:lnSpc>
              <a:spcBef>
                <a:spcPts val="0"/>
              </a:spcBef>
              <a:spcAft>
                <a:spcPts val="700"/>
              </a:spcAft>
            </a:pPr>
            <a:r>
              <a:rPr sz="900" b="0" i="0">
                <a:solidFill>
                  <a:srgbClr val="7A7A7A"/>
                </a:solidFill>
                <a:latin typeface="Arial"/>
              </a:rPr>
              <a:t>Every round is three fabricated posts and two genuine ones. The genuine posts are where false-positive data comes from.</a:t>
            </a:r>
          </a:p>
          <a:p>
            <a:pPr>
              <a:lnSpc>
                <a:spcPct val="142000"/>
              </a:lnSpc>
              <a:spcBef>
                <a:spcPts val="0"/>
              </a:spcBef>
              <a:spcAft>
                <a:spcPts val="700"/>
              </a:spcAft>
            </a:pPr>
            <a:r>
              <a:rPr sz="900" b="0" i="0">
                <a:solidFill>
                  <a:srgbClr val="7A7A7A"/>
                </a:solidFill>
                <a:latin typeface="Arial"/>
              </a:rPr>
              <a:t>Decision times captured in milliseconds. One JSON record exported per participant.</a:t>
            </a:r>
          </a:p>
        </p:txBody>
      </p:sp>
      <p:sp>
        <p:nvSpPr>
          <p:cNvPr id="19" name="Rectangle 18"/>
          <p:cNvSpPr/>
          <p:nvPr/>
        </p:nvSpPr>
        <p:spPr>
          <a:xfrm>
            <a:off x="822960" y="5806440"/>
            <a:ext cx="6766560" cy="566928"/>
          </a:xfrm>
          <a:prstGeom prst="rect">
            <a:avLst/>
          </a:prstGeom>
          <a:solidFill>
            <a:srgbClr val="FDF2EC"/>
          </a:solidFill>
          <a:ln w="9525">
            <a:solidFill>
              <a:srgbClr val="B45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943600"/>
            <a:ext cx="6400800" cy="365760"/>
          </a:xfrm>
          <a:prstGeom prst="rect">
            <a:avLst/>
          </a:prstGeom>
          <a:noFill/>
        </p:spPr>
        <p:txBody>
          <a:bodyPr wrap="square" lIns="0" rIns="0" tIns="0" bIns="0" anchor="t">
            <a:spAutoFit/>
          </a:bodyPr>
          <a:lstStyle/>
          <a:p>
            <a:pPr algn="l">
              <a:spcBef>
                <a:spcPts val="0"/>
              </a:spcBef>
              <a:spcAft>
                <a:spcPts val="0"/>
              </a:spcAft>
            </a:pPr>
            <a:r>
              <a:rPr sz="950" b="1" i="0">
                <a:solidFill>
                  <a:srgbClr val="B4522A"/>
                </a:solidFill>
                <a:latin typeface="Arial"/>
              </a:rPr>
              <a:t>FILL FROM THE TESTER RUN, THEN DELETE THIS BAR — the deck must not be submitted with placeholder dashes.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15600" cy="274320"/>
          </a:xfrm>
          <a:prstGeom prst="rect">
            <a:avLst/>
          </a:prstGeom>
          <a:noFill/>
        </p:spPr>
        <p:txBody>
          <a:bodyPr wrap="square" lIns="0" rIns="0" tIns="0" bIns="0" anchor="t">
            <a:spAutoFit/>
          </a:bodyPr>
          <a:lstStyle/>
          <a:p>
            <a:pPr algn="l">
              <a:spcBef>
                <a:spcPts val="0"/>
              </a:spcBef>
              <a:spcAft>
                <a:spcPts val="0"/>
              </a:spcAft>
            </a:pPr>
            <a:r>
              <a:rPr sz="1000" b="1" i="0" spc="220">
                <a:solidFill>
                  <a:srgbClr val="7A7A7A"/>
                </a:solidFill>
                <a:latin typeface="Arial"/>
              </a:rPr>
              <a:t>ACCESS  ·  ETHICS  ·  TECHNOLOGY</a:t>
            </a:r>
          </a:p>
        </p:txBody>
      </p:sp>
      <p:sp>
        <p:nvSpPr>
          <p:cNvPr id="3" name="TextBox 2"/>
          <p:cNvSpPr txBox="1"/>
          <p:nvPr/>
        </p:nvSpPr>
        <p:spPr>
          <a:xfrm>
            <a:off x="822960" y="960120"/>
            <a:ext cx="10058400" cy="685800"/>
          </a:xfrm>
          <a:prstGeom prst="rect">
            <a:avLst/>
          </a:prstGeom>
          <a:noFill/>
        </p:spPr>
        <p:txBody>
          <a:bodyPr wrap="square" lIns="0" rIns="0" tIns="0" bIns="0" anchor="t">
            <a:spAutoFit/>
          </a:bodyPr>
          <a:lstStyle/>
          <a:p>
            <a:pPr algn="l">
              <a:spcBef>
                <a:spcPts val="0"/>
              </a:spcBef>
              <a:spcAft>
                <a:spcPts val="0"/>
              </a:spcAft>
            </a:pPr>
            <a:r>
              <a:rPr sz="2800" b="0" i="0">
                <a:solidFill>
                  <a:srgbClr val="111111"/>
                </a:solidFill>
                <a:latin typeface="Georgia"/>
              </a:rPr>
              <a:t>A sandbox that shows you exactly how easy the real thing is.</a:t>
            </a:r>
          </a:p>
        </p:txBody>
      </p:sp>
      <p:sp>
        <p:nvSpPr>
          <p:cNvPr id="4" name="Rectangle 3"/>
          <p:cNvSpPr/>
          <p:nvPr/>
        </p:nvSpPr>
        <p:spPr>
          <a:xfrm>
            <a:off x="822960" y="1874519"/>
            <a:ext cx="3291840" cy="38100"/>
          </a:xfrm>
          <a:prstGeom prst="rect">
            <a:avLst/>
          </a:prstGeom>
          <a:solidFill>
            <a:srgbClr val="1D6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084831"/>
            <a:ext cx="3108960" cy="365760"/>
          </a:xfrm>
          <a:prstGeom prst="rect">
            <a:avLst/>
          </a:prstGeom>
          <a:noFill/>
        </p:spPr>
        <p:txBody>
          <a:bodyPr wrap="square" lIns="0" rIns="0" tIns="0" bIns="0" anchor="t">
            <a:spAutoFit/>
          </a:bodyPr>
          <a:lstStyle/>
          <a:p>
            <a:pPr algn="l">
              <a:spcBef>
                <a:spcPts val="0"/>
              </a:spcBef>
              <a:spcAft>
                <a:spcPts val="0"/>
              </a:spcAft>
            </a:pPr>
            <a:r>
              <a:rPr sz="1800" b="0" i="0">
                <a:solidFill>
                  <a:srgbClr val="111111"/>
                </a:solidFill>
                <a:latin typeface="Georgia"/>
              </a:rPr>
              <a:t>Access</a:t>
            </a:r>
          </a:p>
        </p:txBody>
      </p:sp>
      <p:sp>
        <p:nvSpPr>
          <p:cNvPr id="6" name="TextBox 5"/>
          <p:cNvSpPr txBox="1"/>
          <p:nvPr/>
        </p:nvSpPr>
        <p:spPr>
          <a:xfrm>
            <a:off x="822960" y="2606040"/>
            <a:ext cx="3200400" cy="274320"/>
          </a:xfrm>
          <a:prstGeom prst="rect">
            <a:avLst/>
          </a:prstGeom>
          <a:noFill/>
        </p:spPr>
        <p:txBody>
          <a:bodyPr wrap="square" lIns="0" rIns="0" tIns="0" bIns="0" anchor="t">
            <a:spAutoFit/>
          </a:bodyPr>
          <a:lstStyle/>
          <a:p>
            <a:pPr algn="l">
              <a:lnSpc>
                <a:spcPct val="130000"/>
              </a:lnSpc>
              <a:spcBef>
                <a:spcPts val="0"/>
              </a:spcBef>
              <a:spcAft>
                <a:spcPts val="0"/>
              </a:spcAft>
            </a:pPr>
            <a:r>
              <a:rPr sz="1100" b="1" i="0">
                <a:solidFill>
                  <a:srgbClr val="111111"/>
                </a:solidFill>
                <a:latin typeface="Arial"/>
              </a:rPr>
              <a:t>Any browser.</a:t>
            </a:r>
          </a:p>
        </p:txBody>
      </p:sp>
      <p:sp>
        <p:nvSpPr>
          <p:cNvPr id="7" name="TextBox 6"/>
          <p:cNvSpPr txBox="1"/>
          <p:nvPr/>
        </p:nvSpPr>
        <p:spPr>
          <a:xfrm>
            <a:off x="822960" y="2862072"/>
            <a:ext cx="3200400" cy="777240"/>
          </a:xfrm>
          <a:prstGeom prst="rect">
            <a:avLst/>
          </a:prstGeom>
          <a:noFill/>
        </p:spPr>
        <p:txBody>
          <a:bodyPr wrap="square" lIns="0" rIns="0" tIns="0" bIns="0" anchor="t">
            <a:spAutoFit/>
          </a:bodyPr>
          <a:lstStyle/>
          <a:p>
            <a:pPr algn="l">
              <a:lnSpc>
                <a:spcPct val="145000"/>
              </a:lnSpc>
              <a:spcBef>
                <a:spcPts val="0"/>
              </a:spcBef>
              <a:spcAft>
                <a:spcPts val="0"/>
              </a:spcAft>
            </a:pPr>
            <a:r>
              <a:rPr sz="950" b="0" i="0">
                <a:solidFill>
                  <a:srgbClr val="7A7A7A"/>
                </a:solidFill>
                <a:latin typeface="Arial"/>
              </a:rPr>
              <a:t>No headset, no install, no account, no login, no personal data collected.</a:t>
            </a:r>
          </a:p>
        </p:txBody>
      </p:sp>
      <p:sp>
        <p:nvSpPr>
          <p:cNvPr id="8" name="TextBox 7"/>
          <p:cNvSpPr txBox="1"/>
          <p:nvPr/>
        </p:nvSpPr>
        <p:spPr>
          <a:xfrm>
            <a:off x="822960" y="3456432"/>
            <a:ext cx="3200400" cy="274320"/>
          </a:xfrm>
          <a:prstGeom prst="rect">
            <a:avLst/>
          </a:prstGeom>
          <a:noFill/>
        </p:spPr>
        <p:txBody>
          <a:bodyPr wrap="square" lIns="0" rIns="0" tIns="0" bIns="0" anchor="t">
            <a:spAutoFit/>
          </a:bodyPr>
          <a:lstStyle/>
          <a:p>
            <a:pPr algn="l">
              <a:lnSpc>
                <a:spcPct val="130000"/>
              </a:lnSpc>
              <a:spcBef>
                <a:spcPts val="0"/>
              </a:spcBef>
              <a:spcAft>
                <a:spcPts val="0"/>
              </a:spcAft>
            </a:pPr>
            <a:r>
              <a:rPr sz="1100" b="1" i="0">
                <a:solidFill>
                  <a:srgbClr val="111111"/>
                </a:solidFill>
                <a:latin typeface="Arial"/>
              </a:rPr>
              <a:t>88 KB of code, gzipped.</a:t>
            </a:r>
          </a:p>
        </p:txBody>
      </p:sp>
      <p:sp>
        <p:nvSpPr>
          <p:cNvPr id="9" name="TextBox 8"/>
          <p:cNvSpPr txBox="1"/>
          <p:nvPr/>
        </p:nvSpPr>
        <p:spPr>
          <a:xfrm>
            <a:off x="822960" y="3712463"/>
            <a:ext cx="3200400" cy="777240"/>
          </a:xfrm>
          <a:prstGeom prst="rect">
            <a:avLst/>
          </a:prstGeom>
          <a:noFill/>
        </p:spPr>
        <p:txBody>
          <a:bodyPr wrap="square" lIns="0" rIns="0" tIns="0" bIns="0" anchor="t">
            <a:spAutoFit/>
          </a:bodyPr>
          <a:lstStyle/>
          <a:p>
            <a:pPr algn="l">
              <a:lnSpc>
                <a:spcPct val="145000"/>
              </a:lnSpc>
              <a:spcBef>
                <a:spcPts val="0"/>
              </a:spcBef>
              <a:spcAft>
                <a:spcPts val="0"/>
              </a:spcAft>
            </a:pPr>
            <a:r>
              <a:rPr sz="950" b="0" i="0">
                <a:solidFill>
                  <a:srgbClr val="7A7A7A"/>
                </a:solidFill>
                <a:latin typeface="Arial"/>
              </a:rPr>
              <a:t>Plus ~1.5 MB of photography. The whole thing is static files — it loads on a school Chromebook over school wi-fi.</a:t>
            </a:r>
          </a:p>
        </p:txBody>
      </p:sp>
      <p:sp>
        <p:nvSpPr>
          <p:cNvPr id="10" name="TextBox 9"/>
          <p:cNvSpPr txBox="1"/>
          <p:nvPr/>
        </p:nvSpPr>
        <p:spPr>
          <a:xfrm>
            <a:off x="822960" y="4306824"/>
            <a:ext cx="3200400" cy="274320"/>
          </a:xfrm>
          <a:prstGeom prst="rect">
            <a:avLst/>
          </a:prstGeom>
          <a:noFill/>
        </p:spPr>
        <p:txBody>
          <a:bodyPr wrap="square" lIns="0" rIns="0" tIns="0" bIns="0" anchor="t">
            <a:spAutoFit/>
          </a:bodyPr>
          <a:lstStyle/>
          <a:p>
            <a:pPr algn="l">
              <a:lnSpc>
                <a:spcPct val="130000"/>
              </a:lnSpc>
              <a:spcBef>
                <a:spcPts val="0"/>
              </a:spcBef>
              <a:spcAft>
                <a:spcPts val="0"/>
              </a:spcAft>
            </a:pPr>
            <a:r>
              <a:rPr sz="1100" b="1" i="0">
                <a:solidFill>
                  <a:srgbClr val="111111"/>
                </a:solidFill>
                <a:latin typeface="Arial"/>
              </a:rPr>
              <a:t>Keyboard-complete.</a:t>
            </a:r>
          </a:p>
        </p:txBody>
      </p:sp>
      <p:sp>
        <p:nvSpPr>
          <p:cNvPr id="11" name="TextBox 10"/>
          <p:cNvSpPr txBox="1"/>
          <p:nvPr/>
        </p:nvSpPr>
        <p:spPr>
          <a:xfrm>
            <a:off x="822960" y="4562856"/>
            <a:ext cx="3200400" cy="777240"/>
          </a:xfrm>
          <a:prstGeom prst="rect">
            <a:avLst/>
          </a:prstGeom>
          <a:noFill/>
        </p:spPr>
        <p:txBody>
          <a:bodyPr wrap="square" lIns="0" rIns="0" tIns="0" bIns="0" anchor="t">
            <a:spAutoFit/>
          </a:bodyPr>
          <a:lstStyle/>
          <a:p>
            <a:pPr algn="l">
              <a:lnSpc>
                <a:spcPct val="145000"/>
              </a:lnSpc>
              <a:spcBef>
                <a:spcPts val="0"/>
              </a:spcBef>
              <a:spcAft>
                <a:spcPts val="0"/>
              </a:spcAft>
            </a:pPr>
            <a:r>
              <a:rPr sz="950" b="0" i="0">
                <a:solidFill>
                  <a:srgbClr val="7A7A7A"/>
                </a:solidFill>
                <a:latin typeface="Arial"/>
              </a:rPr>
              <a:t>Every screen, including the final reveal. Live-region announcements for screen readers, and reduced-motion honoured throughout.</a:t>
            </a:r>
          </a:p>
        </p:txBody>
      </p:sp>
      <p:sp>
        <p:nvSpPr>
          <p:cNvPr id="12" name="Rectangle 11"/>
          <p:cNvSpPr/>
          <p:nvPr/>
        </p:nvSpPr>
        <p:spPr>
          <a:xfrm>
            <a:off x="4434840" y="1874519"/>
            <a:ext cx="3291840" cy="38100"/>
          </a:xfrm>
          <a:prstGeom prst="rect">
            <a:avLst/>
          </a:prstGeom>
          <a:solidFill>
            <a:srgbClr val="B45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2084831"/>
            <a:ext cx="3108960" cy="365760"/>
          </a:xfrm>
          <a:prstGeom prst="rect">
            <a:avLst/>
          </a:prstGeom>
          <a:noFill/>
        </p:spPr>
        <p:txBody>
          <a:bodyPr wrap="square" lIns="0" rIns="0" tIns="0" bIns="0" anchor="t">
            <a:spAutoFit/>
          </a:bodyPr>
          <a:lstStyle/>
          <a:p>
            <a:pPr algn="l">
              <a:spcBef>
                <a:spcPts val="0"/>
              </a:spcBef>
              <a:spcAft>
                <a:spcPts val="0"/>
              </a:spcAft>
            </a:pPr>
            <a:r>
              <a:rPr sz="1800" b="0" i="0">
                <a:solidFill>
                  <a:srgbClr val="111111"/>
                </a:solidFill>
                <a:latin typeface="Georgia"/>
              </a:rPr>
              <a:t>Ethics</a:t>
            </a:r>
          </a:p>
        </p:txBody>
      </p:sp>
      <p:sp>
        <p:nvSpPr>
          <p:cNvPr id="14" name="TextBox 13"/>
          <p:cNvSpPr txBox="1"/>
          <p:nvPr/>
        </p:nvSpPr>
        <p:spPr>
          <a:xfrm>
            <a:off x="4434840" y="2606040"/>
            <a:ext cx="3200400" cy="274320"/>
          </a:xfrm>
          <a:prstGeom prst="rect">
            <a:avLst/>
          </a:prstGeom>
          <a:noFill/>
        </p:spPr>
        <p:txBody>
          <a:bodyPr wrap="square" lIns="0" rIns="0" tIns="0" bIns="0" anchor="t">
            <a:spAutoFit/>
          </a:bodyPr>
          <a:lstStyle/>
          <a:p>
            <a:pPr algn="l">
              <a:lnSpc>
                <a:spcPct val="130000"/>
              </a:lnSpc>
              <a:spcBef>
                <a:spcPts val="0"/>
              </a:spcBef>
              <a:spcAft>
                <a:spcPts val="0"/>
              </a:spcAft>
            </a:pPr>
            <a:r>
              <a:rPr sz="1100" b="1" i="0">
                <a:solidFill>
                  <a:srgbClr val="111111"/>
                </a:solidFill>
                <a:latin typeface="Arial"/>
              </a:rPr>
              <a:t>Everything is fictional.</a:t>
            </a:r>
          </a:p>
        </p:txBody>
      </p:sp>
      <p:sp>
        <p:nvSpPr>
          <p:cNvPr id="15" name="TextBox 14"/>
          <p:cNvSpPr txBox="1"/>
          <p:nvPr/>
        </p:nvSpPr>
        <p:spPr>
          <a:xfrm>
            <a:off x="4434840" y="2862072"/>
            <a:ext cx="3200400" cy="777240"/>
          </a:xfrm>
          <a:prstGeom prst="rect">
            <a:avLst/>
          </a:prstGeom>
          <a:noFill/>
        </p:spPr>
        <p:txBody>
          <a:bodyPr wrap="square" lIns="0" rIns="0" tIns="0" bIns="0" anchor="t">
            <a:spAutoFit/>
          </a:bodyPr>
          <a:lstStyle/>
          <a:p>
            <a:pPr algn="l">
              <a:lnSpc>
                <a:spcPct val="145000"/>
              </a:lnSpc>
              <a:spcBef>
                <a:spcPts val="0"/>
              </a:spcBef>
              <a:spcAft>
                <a:spcPts val="0"/>
              </a:spcAft>
            </a:pPr>
            <a:r>
              <a:rPr sz="950" b="0" i="0">
                <a:solidFill>
                  <a:srgbClr val="7A7A7A"/>
                </a:solidFill>
                <a:latin typeface="Arial"/>
              </a:rPr>
              <a:t>Invented towns, outlets and people. Riverton and Eastvale do not exist, and no claim made here refers to anything real.</a:t>
            </a:r>
          </a:p>
        </p:txBody>
      </p:sp>
      <p:sp>
        <p:nvSpPr>
          <p:cNvPr id="16" name="TextBox 15"/>
          <p:cNvSpPr txBox="1"/>
          <p:nvPr/>
        </p:nvSpPr>
        <p:spPr>
          <a:xfrm>
            <a:off x="4434840" y="3456432"/>
            <a:ext cx="3200400" cy="274320"/>
          </a:xfrm>
          <a:prstGeom prst="rect">
            <a:avLst/>
          </a:prstGeom>
          <a:noFill/>
        </p:spPr>
        <p:txBody>
          <a:bodyPr wrap="square" lIns="0" rIns="0" tIns="0" bIns="0" anchor="t">
            <a:spAutoFit/>
          </a:bodyPr>
          <a:lstStyle/>
          <a:p>
            <a:pPr algn="l">
              <a:lnSpc>
                <a:spcPct val="130000"/>
              </a:lnSpc>
              <a:spcBef>
                <a:spcPts val="0"/>
              </a:spcBef>
              <a:spcAft>
                <a:spcPts val="0"/>
              </a:spcAft>
            </a:pPr>
            <a:r>
              <a:rPr sz="1100" b="1" i="0">
                <a:solidFill>
                  <a:srgbClr val="111111"/>
                </a:solidFill>
                <a:latin typeface="Arial"/>
              </a:rPr>
              <a:t>The AI refuses.</a:t>
            </a:r>
          </a:p>
        </p:txBody>
      </p:sp>
      <p:sp>
        <p:nvSpPr>
          <p:cNvPr id="17" name="TextBox 16"/>
          <p:cNvSpPr txBox="1"/>
          <p:nvPr/>
        </p:nvSpPr>
        <p:spPr>
          <a:xfrm>
            <a:off x="4434840" y="3712463"/>
            <a:ext cx="3200400" cy="777240"/>
          </a:xfrm>
          <a:prstGeom prst="rect">
            <a:avLst/>
          </a:prstGeom>
          <a:noFill/>
        </p:spPr>
        <p:txBody>
          <a:bodyPr wrap="square" lIns="0" rIns="0" tIns="0" bIns="0" anchor="t">
            <a:spAutoFit/>
          </a:bodyPr>
          <a:lstStyle/>
          <a:p>
            <a:pPr algn="l">
              <a:lnSpc>
                <a:spcPct val="145000"/>
              </a:lnSpc>
              <a:spcBef>
                <a:spcPts val="0"/>
              </a:spcBef>
              <a:spcAft>
                <a:spcPts val="0"/>
              </a:spcAft>
            </a:pPr>
            <a:r>
              <a:rPr sz="950" b="0" i="0">
                <a:solidFill>
                  <a:srgbClr val="7A7A7A"/>
                </a:solidFill>
                <a:latin typeface="Arial"/>
              </a:rPr>
              <a:t>Name a real person, organisation or event and the strategist declines in character, stating why. It only ever works inside the scenario.</a:t>
            </a:r>
          </a:p>
        </p:txBody>
      </p:sp>
      <p:sp>
        <p:nvSpPr>
          <p:cNvPr id="18" name="TextBox 17"/>
          <p:cNvSpPr txBox="1"/>
          <p:nvPr/>
        </p:nvSpPr>
        <p:spPr>
          <a:xfrm>
            <a:off x="4434840" y="4306824"/>
            <a:ext cx="3200400" cy="274320"/>
          </a:xfrm>
          <a:prstGeom prst="rect">
            <a:avLst/>
          </a:prstGeom>
          <a:noFill/>
        </p:spPr>
        <p:txBody>
          <a:bodyPr wrap="square" lIns="0" rIns="0" tIns="0" bIns="0" anchor="t">
            <a:spAutoFit/>
          </a:bodyPr>
          <a:lstStyle/>
          <a:p>
            <a:pPr algn="l">
              <a:lnSpc>
                <a:spcPct val="130000"/>
              </a:lnSpc>
              <a:spcBef>
                <a:spcPts val="0"/>
              </a:spcBef>
              <a:spcAft>
                <a:spcPts val="0"/>
              </a:spcAft>
            </a:pPr>
            <a:r>
              <a:rPr sz="1100" b="1" i="0">
                <a:solidFill>
                  <a:srgbClr val="111111"/>
                </a:solidFill>
                <a:latin typeface="Arial"/>
              </a:rPr>
              <a:t>Nothing leaves the browser.</a:t>
            </a:r>
          </a:p>
        </p:txBody>
      </p:sp>
      <p:sp>
        <p:nvSpPr>
          <p:cNvPr id="19" name="TextBox 18"/>
          <p:cNvSpPr txBox="1"/>
          <p:nvPr/>
        </p:nvSpPr>
        <p:spPr>
          <a:xfrm>
            <a:off x="4434840" y="4562856"/>
            <a:ext cx="3200400" cy="777240"/>
          </a:xfrm>
          <a:prstGeom prst="rect">
            <a:avLst/>
          </a:prstGeom>
          <a:noFill/>
        </p:spPr>
        <p:txBody>
          <a:bodyPr wrap="square" lIns="0" rIns="0" tIns="0" bIns="0" anchor="t">
            <a:spAutoFit/>
          </a:bodyPr>
          <a:lstStyle/>
          <a:p>
            <a:pPr algn="l">
              <a:lnSpc>
                <a:spcPct val="145000"/>
              </a:lnSpc>
              <a:spcBef>
                <a:spcPts val="0"/>
              </a:spcBef>
              <a:spcAft>
                <a:spcPts val="0"/>
              </a:spcAft>
            </a:pPr>
            <a:r>
              <a:rPr sz="950" b="0" i="0">
                <a:solidFill>
                  <a:srgbClr val="7A7A7A"/>
                </a:solidFill>
                <a:latin typeface="Arial"/>
              </a:rPr>
              <a:t>No account, no server, no analytics. Images a student attaches are processed on their own device and never uploaded anywhere.</a:t>
            </a:r>
          </a:p>
        </p:txBody>
      </p:sp>
      <p:sp>
        <p:nvSpPr>
          <p:cNvPr id="20" name="Rectangle 19"/>
          <p:cNvSpPr/>
          <p:nvPr/>
        </p:nvSpPr>
        <p:spPr>
          <a:xfrm>
            <a:off x="8046720" y="1874519"/>
            <a:ext cx="3291840" cy="38100"/>
          </a:xfrm>
          <a:prstGeom prst="rect">
            <a:avLst/>
          </a:prstGeom>
          <a:solidFill>
            <a:srgbClr val="4B3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0" y="2084831"/>
            <a:ext cx="3108960" cy="365760"/>
          </a:xfrm>
          <a:prstGeom prst="rect">
            <a:avLst/>
          </a:prstGeom>
          <a:noFill/>
        </p:spPr>
        <p:txBody>
          <a:bodyPr wrap="square" lIns="0" rIns="0" tIns="0" bIns="0" anchor="t">
            <a:spAutoFit/>
          </a:bodyPr>
          <a:lstStyle/>
          <a:p>
            <a:pPr algn="l">
              <a:spcBef>
                <a:spcPts val="0"/>
              </a:spcBef>
              <a:spcAft>
                <a:spcPts val="0"/>
              </a:spcAft>
            </a:pPr>
            <a:r>
              <a:rPr sz="1800" b="0" i="0">
                <a:solidFill>
                  <a:srgbClr val="111111"/>
                </a:solidFill>
                <a:latin typeface="Georgia"/>
              </a:rPr>
              <a:t>Technology</a:t>
            </a:r>
          </a:p>
        </p:txBody>
      </p:sp>
      <p:sp>
        <p:nvSpPr>
          <p:cNvPr id="22" name="TextBox 21"/>
          <p:cNvSpPr txBox="1"/>
          <p:nvPr/>
        </p:nvSpPr>
        <p:spPr>
          <a:xfrm>
            <a:off x="8046720" y="2606040"/>
            <a:ext cx="3200400" cy="274320"/>
          </a:xfrm>
          <a:prstGeom prst="rect">
            <a:avLst/>
          </a:prstGeom>
          <a:noFill/>
        </p:spPr>
        <p:txBody>
          <a:bodyPr wrap="square" lIns="0" rIns="0" tIns="0" bIns="0" anchor="t">
            <a:spAutoFit/>
          </a:bodyPr>
          <a:lstStyle/>
          <a:p>
            <a:pPr algn="l">
              <a:lnSpc>
                <a:spcPct val="130000"/>
              </a:lnSpc>
              <a:spcBef>
                <a:spcPts val="0"/>
              </a:spcBef>
              <a:spcAft>
                <a:spcPts val="0"/>
              </a:spcAft>
            </a:pPr>
            <a:r>
              <a:rPr sz="1100" b="1" i="0">
                <a:solidFill>
                  <a:srgbClr val="111111"/>
                </a:solidFill>
                <a:latin typeface="Arial"/>
              </a:rPr>
              <a:t>Vite + React 19, Zustand.</a:t>
            </a:r>
          </a:p>
        </p:txBody>
      </p:sp>
      <p:sp>
        <p:nvSpPr>
          <p:cNvPr id="23" name="TextBox 22"/>
          <p:cNvSpPr txBox="1"/>
          <p:nvPr/>
        </p:nvSpPr>
        <p:spPr>
          <a:xfrm>
            <a:off x="8046720" y="2862072"/>
            <a:ext cx="3200400" cy="777240"/>
          </a:xfrm>
          <a:prstGeom prst="rect">
            <a:avLst/>
          </a:prstGeom>
          <a:noFill/>
        </p:spPr>
        <p:txBody>
          <a:bodyPr wrap="square" lIns="0" rIns="0" tIns="0" bIns="0" anchor="t">
            <a:spAutoFit/>
          </a:bodyPr>
          <a:lstStyle/>
          <a:p>
            <a:pPr algn="l">
              <a:lnSpc>
                <a:spcPct val="145000"/>
              </a:lnSpc>
              <a:spcBef>
                <a:spcPts val="0"/>
              </a:spcBef>
              <a:spcAft>
                <a:spcPts val="0"/>
              </a:spcAft>
            </a:pPr>
            <a:r>
              <a:rPr sz="950" b="0" i="0">
                <a:solidFill>
                  <a:srgbClr val="7A7A7A"/>
                </a:solidFill>
                <a:latin typeface="Arial"/>
              </a:rPr>
              <a:t>Entirely client-side. No backend, no database, session state in memory.</a:t>
            </a:r>
          </a:p>
        </p:txBody>
      </p:sp>
      <p:sp>
        <p:nvSpPr>
          <p:cNvPr id="24" name="TextBox 23"/>
          <p:cNvSpPr txBox="1"/>
          <p:nvPr/>
        </p:nvSpPr>
        <p:spPr>
          <a:xfrm>
            <a:off x="8046720" y="3456432"/>
            <a:ext cx="3200400" cy="274320"/>
          </a:xfrm>
          <a:prstGeom prst="rect">
            <a:avLst/>
          </a:prstGeom>
          <a:noFill/>
        </p:spPr>
        <p:txBody>
          <a:bodyPr wrap="square" lIns="0" rIns="0" tIns="0" bIns="0" anchor="t">
            <a:spAutoFit/>
          </a:bodyPr>
          <a:lstStyle/>
          <a:p>
            <a:pPr algn="l">
              <a:lnSpc>
                <a:spcPct val="130000"/>
              </a:lnSpc>
              <a:spcBef>
                <a:spcPts val="0"/>
              </a:spcBef>
              <a:spcAft>
                <a:spcPts val="0"/>
              </a:spcAft>
            </a:pPr>
            <a:r>
              <a:rPr sz="1100" b="1" i="0">
                <a:solidFill>
                  <a:srgbClr val="111111"/>
                </a:solidFill>
                <a:latin typeface="Arial"/>
              </a:rPr>
              <a:t>Pointer, canvas, timing.</a:t>
            </a:r>
          </a:p>
        </p:txBody>
      </p:sp>
      <p:sp>
        <p:nvSpPr>
          <p:cNvPr id="25" name="TextBox 24"/>
          <p:cNvSpPr txBox="1"/>
          <p:nvPr/>
        </p:nvSpPr>
        <p:spPr>
          <a:xfrm>
            <a:off x="8046720" y="3712463"/>
            <a:ext cx="3200400" cy="777240"/>
          </a:xfrm>
          <a:prstGeom prst="rect">
            <a:avLst/>
          </a:prstGeom>
          <a:noFill/>
        </p:spPr>
        <p:txBody>
          <a:bodyPr wrap="square" lIns="0" rIns="0" tIns="0" bIns="0" anchor="t">
            <a:spAutoFit/>
          </a:bodyPr>
          <a:lstStyle/>
          <a:p>
            <a:pPr algn="l">
              <a:lnSpc>
                <a:spcPct val="145000"/>
              </a:lnSpc>
              <a:spcBef>
                <a:spcPts val="0"/>
              </a:spcBef>
              <a:spcAft>
                <a:spcPts val="0"/>
              </a:spcAft>
            </a:pPr>
            <a:r>
              <a:rPr sz="950" b="0" i="0">
                <a:solidFill>
                  <a:srgbClr val="7A7A7A"/>
                </a:solidFill>
                <a:latin typeface="Arial"/>
              </a:rPr>
              <a:t>Swipe physics, a drag-and-drop composer and a canvas spread animation — the reasons this is a web app rather than a slide deck.</a:t>
            </a:r>
          </a:p>
        </p:txBody>
      </p:sp>
      <p:sp>
        <p:nvSpPr>
          <p:cNvPr id="26" name="TextBox 25"/>
          <p:cNvSpPr txBox="1"/>
          <p:nvPr/>
        </p:nvSpPr>
        <p:spPr>
          <a:xfrm>
            <a:off x="8046720" y="4306824"/>
            <a:ext cx="3200400" cy="274320"/>
          </a:xfrm>
          <a:prstGeom prst="rect">
            <a:avLst/>
          </a:prstGeom>
          <a:noFill/>
        </p:spPr>
        <p:txBody>
          <a:bodyPr wrap="square" lIns="0" rIns="0" tIns="0" bIns="0" anchor="t">
            <a:spAutoFit/>
          </a:bodyPr>
          <a:lstStyle/>
          <a:p>
            <a:pPr algn="l">
              <a:lnSpc>
                <a:spcPct val="130000"/>
              </a:lnSpc>
              <a:spcBef>
                <a:spcPts val="0"/>
              </a:spcBef>
              <a:spcAft>
                <a:spcPts val="0"/>
              </a:spcAft>
            </a:pPr>
            <a:r>
              <a:rPr sz="1100" b="1" i="0">
                <a:solidFill>
                  <a:srgbClr val="111111"/>
                </a:solidFill>
                <a:latin typeface="Arial"/>
              </a:rPr>
              <a:t>Real photography.</a:t>
            </a:r>
          </a:p>
        </p:txBody>
      </p:sp>
      <p:sp>
        <p:nvSpPr>
          <p:cNvPr id="27" name="TextBox 26"/>
          <p:cNvSpPr txBox="1"/>
          <p:nvPr/>
        </p:nvSpPr>
        <p:spPr>
          <a:xfrm>
            <a:off x="8046720" y="4562856"/>
            <a:ext cx="3200400" cy="777240"/>
          </a:xfrm>
          <a:prstGeom prst="rect">
            <a:avLst/>
          </a:prstGeom>
          <a:noFill/>
        </p:spPr>
        <p:txBody>
          <a:bodyPr wrap="square" lIns="0" rIns="0" tIns="0" bIns="0" anchor="t">
            <a:spAutoFit/>
          </a:bodyPr>
          <a:lstStyle/>
          <a:p>
            <a:pPr algn="l">
              <a:lnSpc>
                <a:spcPct val="145000"/>
              </a:lnSpc>
              <a:spcBef>
                <a:spcPts val="0"/>
              </a:spcBef>
              <a:spcAft>
                <a:spcPts val="0"/>
              </a:spcAft>
            </a:pPr>
            <a:r>
              <a:rPr sz="950" b="0" i="0">
                <a:solidFill>
                  <a:srgbClr val="7A7A7A"/>
                </a:solidFill>
                <a:latin typeface="Arial"/>
              </a:rPr>
              <a:t>Ten openly-licensed photographs, with hand-built SVG scenes as a fallback. A feed only fools you if it looks like a feed.</a:t>
            </a:r>
          </a:p>
        </p:txBody>
      </p:sp>
      <p:sp>
        <p:nvSpPr>
          <p:cNvPr id="28" name="Rectangle 27"/>
          <p:cNvSpPr/>
          <p:nvPr/>
        </p:nvSpPr>
        <p:spPr>
          <a:xfrm>
            <a:off x="822960" y="5806440"/>
            <a:ext cx="10515600"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989320"/>
            <a:ext cx="10515600" cy="548640"/>
          </a:xfrm>
          <a:prstGeom prst="rect">
            <a:avLst/>
          </a:prstGeom>
          <a:noFill/>
        </p:spPr>
        <p:txBody>
          <a:bodyPr wrap="square" lIns="0" rIns="0" tIns="0" bIns="0" anchor="t">
            <a:spAutoFit/>
          </a:bodyPr>
          <a:lstStyle/>
          <a:p>
            <a:pPr algn="l">
              <a:lnSpc>
                <a:spcPct val="150000"/>
              </a:lnSpc>
              <a:spcBef>
                <a:spcPts val="0"/>
              </a:spcBef>
              <a:spcAft>
                <a:spcPts val="0"/>
              </a:spcAft>
            </a:pPr>
            <a:r>
              <a:rPr sz="1150" b="0" i="0">
                <a:solidFill>
                  <a:srgbClr val="111111"/>
                </a:solidFill>
                <a:latin typeface="Arial"/>
              </a:rPr>
              <a:t>Classroom-ready as it stands: a teacher opens a URL, a class of thirty runs it in ten minutes, and every student leaves with a named vulnerability and one habit that counters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